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evaluators and committee members. I am Shreyan Nayak, registration number 23BKT0039, presenting my final research case study titled: 'PKI-Based Trust Management for Peer-to-Peer File-Sharing and Social Networking Platforms.'</a:t>
            </a:r>
          </a:p>
          <a:p/>
          <a:p>
            <a:r>
              <a:t>This project investigates how to bridge the fundamental divide between Public Key Infrastructure and decentralized peer-to-peer systems. In client-server environments, trust is traditionally established by convention through centralized Certificate Authorities. However, decentralized P2P networks require open, censorship-resistant collaboration where central roots of trust cannot exist.</a:t>
            </a:r>
          </a:p>
          <a:p/>
          <a:p>
            <a:r>
              <a:t>Over the course of this presentation, I will walk you through our vertically integrated four-layer architecture, explain its cryptographic and mathematical mechanisms, present our preregistered empirical benchmark across 1,140 trial evaluations, and candidly examine both our validated successes—such as over 40% leaky collusion suppression—and our mathematically established theoretical limitations, including the Closed-Set Flow Identity and the refutation of preregistered Hypothesis H-1.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contextualize our investigation, consider the central trust dilemma in distributed networks. Traditional PKI depends entirely on hierarchical Certification Authorities. If you access a secure website, your browser trusts a pre-installed root certificate. But in a peer-to-peer network like BitTorrent or Nostr, there is no root CA. Introducing one creates a single point of failure and invites administrative censorship.</a:t>
            </a:r>
          </a:p>
          <a:p/>
          <a:p>
            <a:r>
              <a:t>However, completely abandoning identity infrastructure creates a catastrophic attack surface. Without identity barriers, adversaries can launch Sybil attacks—generating millions of cryptographic keys for zero cost—to swamp voting quorums. Strategic colluders can form mutual rating cliques to harvest reputation, while malicious uploaders can poison content and downloaders can slander honest providers.</a:t>
            </a:r>
          </a:p>
          <a:p/>
          <a:p>
            <a:r>
              <a:t>We address this challenge across two complementary P2P paradigms: transactional file sharing, which deals with concrete chunk integrity and seeder reciprocity, and social networking, which deals with relational endorsements and spam moderation. As we will emphasize throughout, file sharing was fully implemented and empirically evaluated, whereas social networking is formulated as an architectural conceptual extension.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core problem statement asks how autonomous peers can establish verifiable cryptographic identity and compute defensible global reputation without relying on centralized CAs, while simultaneously bounding Sybil injection and containing strategic collusion rings.</a:t>
            </a:r>
          </a:p>
          <a:p/>
          <a:p>
            <a:r>
              <a:t>To solve this problem systematically, we formulated four specific research objectives:</a:t>
            </a:r>
          </a:p>
          <a:p>
            <a:r>
              <a:t>First, Research Objective 1 focuses on admission and identity: establishing an asymmetric Proof-of-Work barrier bound to Ed25519 DIDs so that identity creation carries real computational cost.</a:t>
            </a:r>
          </a:p>
          <a:p>
            <a:r>
              <a:t>Second, Research Objective 2 constructs a decentralized Web-of-Trust mesh PKI where peers cross-sign certificates and validate trust paths within bounded horizons.</a:t>
            </a:r>
          </a:p>
          <a:p>
            <a:r>
              <a:t>Third, Research Objective 3 designs Evidence-Weighted EigenTrust v1.8, augmenting classical spectral iteration with bilateral receipts, dispute penalties, and pre-trusted teleportation.</a:t>
            </a:r>
          </a:p>
          <a:p>
            <a:r>
              <a:t>Fourth, Research Objective 4 provides Merkle-based fault attribution for poisoned chunks and Shamir threshold secret sharing for distributed key recovery.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where our work sits, we surveyed three major pillars in the literature.</a:t>
            </a:r>
          </a:p>
          <a:p/>
          <a:p>
            <a:r>
              <a:t>First, classical Web-of-Trust schemes like PGP pioneered decentralized key certification. However, PGP relies on manual user signatures, suffers from confidence decay over multi-hop chains, and provides no mathematical mechanism for computing global consensus.</a:t>
            </a:r>
          </a:p>
          <a:p/>
          <a:p>
            <a:r>
              <a:t>Second, spectral reputation algorithms like Kamvar et al.'s EigenTrust formulate global trust as the stationary distribution of a Markov chain. While mathematically elegant, EigenTrust assumes pre-trusted nodes are permanently honest and treats all subjective ratings equally, leaving it vulnerable to receipt grinding and collusion.</a:t>
            </a:r>
          </a:p>
          <a:p/>
          <a:p>
            <a:r>
              <a:t>Third, decentralized identity standards from the W3C and Proof-of-Work mechanisms from Nakamoto provide self-sovereign naming and computational admission barriers, but they deliberately decouple identity from operational accountability.</a:t>
            </a:r>
          </a:p>
          <a:p/>
          <a:p>
            <a:r>
              <a:t>The critical research gap is this separation: PKI systems authenticate keys without knowing if peers act honestly, while reputation systems score interactions without authenticating identities. Our work bridges this gap by unifying cryptographic authentication and spectral reputation into a single vertical stack.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present our core architectural contribution: a vertically integrated four-layer stack where each layer enforces distinct security invariants.</a:t>
            </a:r>
          </a:p>
          <a:p/>
          <a:p>
            <a:r>
              <a:t>At Layer 1, the Identity and Admission layer binds Ed25519 public keys into deterministic DIDs and requires solving a non-interactive Proof-of-Work puzzle to deter Sybil generation.</a:t>
            </a:r>
          </a:p>
          <a:p/>
          <a:p>
            <a:r>
              <a:t>At Layer 2, the Web-of-Trust PKI layer organizes peers into a decentralized cross-certification mesh, establishing key authenticity through bounded transitive trust paths without any central root authority.</a:t>
            </a:r>
          </a:p>
          <a:p/>
          <a:p>
            <a:r>
              <a:t>At Layer 3, the Evidence-Weighted EigenTrust engine computes global reputation by feeding cryptographic interaction receipts and dispute penalties into a damped power-iteration Markov process.</a:t>
            </a:r>
          </a:p>
          <a:p/>
          <a:p>
            <a:r>
              <a:t>Finally, at Layer 4, the Revocation and Key Governance layer provides deterministic Merkle chunk fault attribution for automated revocation and Shamir threshold secret sharing for distributed master key recovery.</a:t>
            </a:r>
          </a:p>
          <a:p/>
          <a:p>
            <a:r>
              <a:t>Crucially, information flows upward deterministically: higher-level trust decisions depend on mathematically validated cryptographic proofs generated at lower layers.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details Layer 1, our identity and admission engine. We define a self-sovereign DID method string: did:pki:ed25519 followed by the hex public key. Because the public key is embedded in the identifier, an identity cannot be registered without possessing the underlying private key.</a:t>
            </a:r>
          </a:p>
          <a:p/>
          <a:p>
            <a:r>
              <a:t>To prevent adversaries from generating millions of Sybils instantaneously, peers must solve a non-interactive Proof-of-Work challenge. The challenge requires finding a nonce such that the SHA-256 hash of the DID concatenated with the nonce begins with D leading zero bits.</a:t>
            </a:r>
          </a:p>
          <a:p/>
          <a:p>
            <a:r>
              <a:t>At our baseline difficulty of D=16 bits, finding a solution requires an average of 65,536 hash evaluations. Crucially, verification is completely asymmetric: verifying peers compute exactly one hash in constant time, or O(1).</a:t>
            </a:r>
          </a:p>
          <a:p/>
          <a:p>
            <a:r>
              <a:t>However, as we note under our rigorous academic audit, Proof-of-Work is an economic throttle, not a permanent mathematical defense against Sybils. A determined adversary with specialized ASIC hardware can still compute batches of identities.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Layer 2, we implement a decentralized Web-of-Trust mesh PKI. Rather than relying on hierarchical X.509 CA roots, peers issue lightweight PeerCertificates cross-signing the public keys of other peers.</a:t>
            </a:r>
          </a:p>
          <a:p/>
          <a:p>
            <a:r>
              <a:t>Each certificate contains the issuer's DID, subject's DID, public key, validity timestamp—set to a strict 30-day window—and an Ed25519 digital signature.</a:t>
            </a:r>
          </a:p>
          <a:p/>
          <a:p>
            <a:r>
              <a:t>When peer A needs to verify peer B's key, it executes a bounded Breadth-First Search over the local trust graph. To prevent search explosion and transitive trust dilution, we enforce a strict maximum depth of 3 hops and apply an exponential confidence decay factor delta of 0.5 per hop.</a:t>
            </a:r>
          </a:p>
          <a:p/>
          <a:p>
            <a:r>
              <a:t>Importantly, we distinguish key binding trust from behavioral reputation: a valid WoT certificate proves that a public key belongs to the advertised peer, but it does not guarantee that the peer won't send corrupted data. That behavioral evaluation is handled by Layer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3 contains our reputation algorithm: Evidence-Weighted EigenTrust v1.8. In classical EigenTrust, ratings are simple integer scores. In EW-EigenTrust, raw scores are computed from cryptographically authenticated evidence.</a:t>
            </a:r>
          </a:p>
          <a:p/>
          <a:p>
            <a:r>
              <a:t>We assign weight 1.0 to mutually signed bilateral receipts, weight 2.0 to timeouts, and a heavy penalty of 5.0 to substantiated Merkle disputes. This creates an asymmetric penalty regime where a single poisoned chunk wipes out the trust earned from five successful transactions.</a:t>
            </a:r>
          </a:p>
          <a:p/>
          <a:p>
            <a:r>
              <a:t>The evidence scores are row-normalized to yield stochastic matrix C'. If a peer has zero interactions, its row falls back to the teleportation vector p.</a:t>
            </a:r>
          </a:p>
          <a:p/>
          <a:p>
            <a:r>
              <a:t>Global trust is then computed using power iteration: t equals (1 minus alpha) times C-transpose times t, plus alpha times p, with damping factor alpha set to 0.15. By Perron-Frobenius theory, this guarantees convergence to a unique stationary trust vector regardless of initial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outlines Layer 4: Revocation and Key Governance. In centralized PKI, certificate revocation is notoriously fragile, relying on Online Certificate Status Protocol (OCSP) servers that introduce latency, privacy leaks, and single points of failure.</a:t>
            </a:r>
          </a:p>
          <a:p/>
          <a:p>
            <a:r>
              <a:t>In our architecture, revocations are triggered either voluntarily upon key rotation or involuntarily when a peer is convicted by a Merkle dispute proof. Revocation vectors are broadcast via epidemic gossip and validated locally against cryptographic signatures.</a:t>
            </a:r>
          </a:p>
          <a:p/>
          <a:p>
            <a:r>
              <a:t>For key recovery, we implement Shamir's (k, n) secret sharing with threshold k=3 out of n=5 guardians. The master secret is embedded as the constant term of a random degree-2 polynomial over Galois Field GF(2^8). Any three guardians can reconstruct the key using Lagrange interpolation, while two colluding guardians gain zero mathematical information.</a:t>
            </a:r>
          </a:p>
          <a:p/>
          <a:p>
            <a:r>
              <a:t>In our scope audit, we explicitly clarify that Shamir sharing is implemented and tested at the cryptographic module level, but multi-party live network recovery was not part of the Phase 8.2 simulation trials.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end-to-end file sharing protocol and Merkle fault attribution mechanism.</a:t>
            </a:r>
          </a:p>
          <a:p/>
          <a:p>
            <a:r>
              <a:t>The workflow follows five discrete stages: first, peers perform an authenticated handshake. Second, they verify the uploader's public key across the Web-of-Trust mesh. Third, the downloader retrieves the file manifest containing the Merkle root hash.</a:t>
            </a:r>
          </a:p>
          <a:p/>
          <a:p>
            <a:r>
              <a:t>Fourth, during chunk delivery, the uploader provides the chunk payload along with its Merkle audit path. As emphasized in our technical corrections, verifying this proof requires exactly O(log N) hash operations and O(log N) sibling hashes. This allows the downloader to mathematically verify chunk integrity in isolation without downloading the rest of the file.</a:t>
            </a:r>
          </a:p>
          <a:p/>
          <a:p>
            <a:r>
              <a:t>Fifth, if verification succeeds, peers exchange a bilateral delivery receipt. If the chunk is corrupted, the downloader publishes a Merkle contradiction proof, triggering an immediate dispute penalty.</a:t>
            </a:r>
          </a:p>
          <a:p/>
          <a:p>
            <a:r>
              <a:t>We also highlight our Tier 3 Evidence Portability Gap: in the simulation, delivery receipts rely on a global key oracle. In a live decentralized network, bilateral receipts require additional threshold attestation to be fully portable across third parties.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our empirical evaluation, Slide 11 outlines our experimental methodology.</a:t>
            </a:r>
          </a:p>
          <a:p/>
          <a:p>
            <a:r>
              <a:t>Rather than running ad-hoc trials, our experiments followed a preregistered protocol executed across 1,140 simulation runs. We evaluated networks of 30 and 50 nodes containing 20 honest peers, 5 strategic colluders, and 5 malicious Sybil nodes.</a:t>
            </a:r>
          </a:p>
          <a:p/>
          <a:p>
            <a:r>
              <a:t>We utilized paired random seeds—exactly 100 identical seed runs per scenario—to directly compare three modes: standard EigenTrust as our baseline, Evidence-Weighted EigenTrust, and PoW-Gated EW-EigenTrust.</a:t>
            </a:r>
          </a:p>
          <a:p/>
          <a:p>
            <a:r>
              <a:t>We tested eight distinct adversarial scenarios covering identity flooding, whitewashing, closed collusion rings, leaky coalitions, receipt grinding, and slander disputes. This rigorous comparative setup allows us to make statistically robust claims backed by two-sided Wilcoxon signed-rank tests and Cohen's d effect sizes.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presents our key empirical findings from the 1,140 benchmark trials. The results demonstrate both clear successes and critical boundaries.</a:t>
            </a:r>
          </a:p>
          <a:p/>
          <a:p>
            <a:r>
              <a:t>Our primary validated success is in Scenario 5, the leaky coalition scenario. Here, colluders interact with honest peers while secretly boosting each other. Under standard EigenTrust, colluders captured 18.34% of global trust. Under EW-EigenTrust, their trust dropped to 10.68%—a 41.8% reduction with extreme statistical significance (p &lt; 10^-6, Cohen's d = 2.45).</a:t>
            </a:r>
          </a:p>
          <a:p/>
          <a:p>
            <a:r>
              <a:t>However, in Scenario 6—receipt grinding—colluders actually increased their trust share by +13.38% in standard grinding and +17.92% under extended grinding. This directly refuted our preregistered Hypothesis H-1.</a:t>
            </a:r>
          </a:p>
          <a:p/>
          <a:p>
            <a:r>
              <a:t>Finally, regarding computational performance: while matrix assembly takes only 34 ms under normal operations, under extended grinding with 152,000 receipts, runtime jumped to 2.76 seconds—a 92-fold increase that reveals significant scaling bottlenecks when interaction histories are unpruned.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provides the critical theoretical and empirical analysis demanded by rigorous academic evaluation.</a:t>
            </a:r>
          </a:p>
          <a:p/>
          <a:p>
            <a:r>
              <a:t>First, we examine the Closed-Set Flow Identity: T_C equals (1-alpha)/alpha times F_(H-&gt;C). This theorem proves that the total trust share of any closed coalition C is strictly bounded by the trust-weighted flow entering it from honest nodes. It relies on three strict assumptions: closure, zero coalition teleportation, and no dangling rows. It proves that internal collusion cannot increase total coalition trust unless trust-weighted incoming flow F_(H-&gt;C) is increased.</a:t>
            </a:r>
          </a:p>
          <a:p/>
          <a:p>
            <a:r>
              <a:t>Second, we address the refutation of Hypothesis H-1. We hypothesized that dispute weighting would prevent receipt grinding. In reality, colluders gained 13% to 18% more trust. Why? Because colluders exchanged synthetic mutual positive receipts among themselves without ever triggering disputes against honest peers. Dispute weighting was powerless because no disputes occurred.</a:t>
            </a:r>
          </a:p>
          <a:p/>
          <a:p>
            <a:r>
              <a:t>Third, we uncover the truth behind Scenario 7. Reporting zero colluder trust looked like perfect slander defense. In reality, it was a structural artifact: colluders had zero incoming edges, zero teleportation, and no dangling rows. They received zero trust purely due to topological disconnection.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concluding analysis on Slide 14, we review our project limitations, clarify our social networking scope, and summarize future work.</a:t>
            </a:r>
          </a:p>
          <a:p/>
          <a:p>
            <a:r>
              <a:t>We candidly acknowledge three key limitations: first, the Tier 3 evidence portability gap; second, the computational ceiling of static Proof-of-Work; and third, that evaluations were conducted in synthetic simulation rather than wild WAN deployments.</a:t>
            </a:r>
          </a:p>
          <a:p/>
          <a:p>
            <a:r>
              <a:t>Regarding decentralized social networks: we established a platform-neutral conceptual mapping linking Nostr follows to WoT edges and content attestations to receipts. However, because social trust is subjective, we clearly delineate this as a conceptual architectural contribution without claiming empirical validation.</a:t>
            </a:r>
          </a:p>
          <a:p/>
          <a:p>
            <a:r>
              <a:t>In conclusion, this case study demonstrates that vertically integrating cryptographic identity, Web-of-Trust mesh certification, and evidence-weighted spectral trust successfully suppresses leaky collusion by over 40%, while formally establishing the mathematical boundaries of decentralized reputation. Future work will focus on zero-knowledge receipt compression and multi-party decentralized threshold recovery.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concludes our presentation with our complete list of authoritative references, formatted in standard IEEE style.</a:t>
            </a:r>
          </a:p>
          <a:p/>
          <a:p>
            <a:r>
              <a:t>These seven citations represent the primary theoretical foundations of our work: W3C Decentralized Identifiers for Layer 1; SPKI RFC 2693, Zimmermann's PGP, and RFC 5280 for Layer 2 PKI and revocation; Kamvar et al.'s seminal EigenTrust paper for Layer 3 spectral reputation; Nakamoto's Proof-of-Work for computational admission; and Shamir's 1979 secret sharing scheme for Layer 4 key recovery.</a:t>
            </a:r>
          </a:p>
          <a:p/>
          <a:p>
            <a:r>
              <a:t>All claims, formulas, and baseline parameters in this defense have been verified against these foundational texts and our preregistered experimental records.</a:t>
            </a:r>
          </a:p>
          <a:p/>
          <a:p>
            <a:r>
              <a:t>Thank you very much for your time and attention. I am now open to questions from the evaluation committee.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ounded Rectangle 1"/>
          <p:cNvSpPr/>
          <p:nvPr/>
        </p:nvSpPr>
        <p:spPr>
          <a:xfrm>
            <a:off x="731520" y="1005840"/>
            <a:ext cx="10728655" cy="4846320"/>
          </a:xfrm>
          <a:prstGeom prst="roundRect">
            <a:avLst/>
          </a:prstGeom>
          <a:solidFill>
            <a:srgbClr val="1E293B"/>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280160"/>
            <a:ext cx="9966960" cy="2194560"/>
          </a:xfrm>
          <a:prstGeom prst="rect">
            <a:avLst/>
          </a:prstGeom>
          <a:noFill/>
        </p:spPr>
        <p:txBody>
          <a:bodyPr wrap="square">
            <a:spAutoFit/>
          </a:bodyPr>
          <a:lstStyle/>
          <a:p>
            <a:pPr>
              <a:spcAft>
                <a:spcPts val="800"/>
              </a:spcAft>
              <a:defRPr sz="1100" b="1">
                <a:solidFill>
                  <a:srgbClr val="38BDF8"/>
                </a:solidFill>
                <a:latin typeface="Segoe UI"/>
              </a:defRPr>
            </a:pPr>
            <a:r>
              <a:t>RESEARCH DEFENSE &amp; TECHNICAL CASE STUDY</a:t>
            </a:r>
          </a:p>
          <a:p>
            <a:pPr>
              <a:spcAft>
                <a:spcPts val="1000"/>
              </a:spcAft>
              <a:defRPr sz="2300" b="1">
                <a:solidFill>
                  <a:srgbClr val="F8FAFC"/>
                </a:solidFill>
                <a:latin typeface="Segoe UI"/>
              </a:defRPr>
            </a:pPr>
            <a:r>
              <a:t>PKI-Based Trust Management for Peer-to-Peer File-Sharing and Social Networking Platforms</a:t>
            </a:r>
          </a:p>
          <a:p>
            <a:pPr>
              <a:defRPr sz="1250">
                <a:solidFill>
                  <a:srgbClr val="94A3B8"/>
                </a:solidFill>
                <a:latin typeface="Segoe UI"/>
              </a:defRPr>
            </a:pPr>
            <a:r>
              <a:t>A Vertically Integrated Four-Layer Architecture Synthesizing Self-Sovereign Identity, Web-of-Trust PKI, Evidence-Weighted Spectral Reputation, and Threshold Governance</a:t>
            </a:r>
          </a:p>
        </p:txBody>
      </p:sp>
      <p:sp>
        <p:nvSpPr>
          <p:cNvPr id="4" name="Rounded Rectangle 3"/>
          <p:cNvSpPr/>
          <p:nvPr/>
        </p:nvSpPr>
        <p:spPr>
          <a:xfrm>
            <a:off x="1097280" y="3931920"/>
            <a:ext cx="4846320" cy="164592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4023360"/>
            <a:ext cx="4480560" cy="1463040"/>
          </a:xfrm>
          <a:prstGeom prst="rect">
            <a:avLst/>
          </a:prstGeom>
          <a:noFill/>
        </p:spPr>
        <p:txBody>
          <a:bodyPr wrap="square">
            <a:spAutoFit/>
          </a:bodyPr>
          <a:lstStyle/>
          <a:p>
            <a:pPr>
              <a:defRPr sz="1000" b="1">
                <a:solidFill>
                  <a:srgbClr val="38BDF8"/>
                </a:solidFill>
                <a:latin typeface="Segoe UI"/>
              </a:defRPr>
            </a:pPr>
            <a:r>
              <a:t>CANDIDATE DETAILS</a:t>
            </a:r>
          </a:p>
          <a:p>
            <a:pPr>
              <a:defRPr sz="1050">
                <a:solidFill>
                  <a:srgbClr val="F8FAFC"/>
                </a:solidFill>
                <a:latin typeface="Segoe UI"/>
              </a:defRPr>
            </a:pPr>
            <a:r>
              <a:t>Shreyan Nayak (Reg. No: 23BKT0039)</a:t>
            </a:r>
            <a:br/>
            <a:r>
              <a:t>B.Tech Computer Science &amp; Engineering</a:t>
            </a:r>
            <a:br/>
            <a:r>
              <a:t>School of Computer Science and Engineering (SCOPE)</a:t>
            </a:r>
            <a:br/>
            <a:r>
              <a:t>Vellore Institute of Technology (VIT), Chennai</a:t>
            </a:r>
          </a:p>
        </p:txBody>
      </p:sp>
      <p:sp>
        <p:nvSpPr>
          <p:cNvPr id="6" name="Rounded Rectangle 5"/>
          <p:cNvSpPr/>
          <p:nvPr/>
        </p:nvSpPr>
        <p:spPr>
          <a:xfrm>
            <a:off x="6217920" y="3931920"/>
            <a:ext cx="4846320" cy="164592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4023360"/>
            <a:ext cx="4480560" cy="1463040"/>
          </a:xfrm>
          <a:prstGeom prst="rect">
            <a:avLst/>
          </a:prstGeom>
          <a:noFill/>
        </p:spPr>
        <p:txBody>
          <a:bodyPr wrap="square">
            <a:spAutoFit/>
          </a:bodyPr>
          <a:lstStyle/>
          <a:p>
            <a:pPr>
              <a:defRPr sz="1000" b="1">
                <a:solidFill>
                  <a:srgbClr val="38BDF8"/>
                </a:solidFill>
                <a:latin typeface="Segoe UI"/>
              </a:defRPr>
            </a:pPr>
            <a:r>
              <a:t>COURSE &amp; ASSESSMENT</a:t>
            </a:r>
          </a:p>
          <a:p>
            <a:pPr>
              <a:defRPr sz="1050">
                <a:solidFill>
                  <a:srgbClr val="F8FAFC"/>
                </a:solidFill>
                <a:latin typeface="Segoe UI"/>
              </a:defRPr>
            </a:pPr>
            <a:r>
              <a:t>Course: Information Security / PKI Case Study (VL2026270102689)</a:t>
            </a:r>
            <a:br/>
            <a:r>
              <a:t>Assessment Task: Case Study 1 (CS1)</a:t>
            </a:r>
            <a:br/>
            <a:r>
              <a:t>Review Date: October 9, 2026</a:t>
            </a:r>
            <a:br/>
            <a:r>
              <a:t>Technical Baseline: v9.0-FINAL-FREEZE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Introduction: The Decentralized Trust Dilemma</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2 of 15</a:t>
            </a:r>
          </a:p>
        </p:txBody>
      </p:sp>
      <p:sp>
        <p:nvSpPr>
          <p:cNvPr id="6" name="Rounded Rectangle 5"/>
          <p:cNvSpPr/>
          <p:nvPr/>
        </p:nvSpPr>
        <p:spPr>
          <a:xfrm>
            <a:off x="731520" y="146304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3054096" cy="365760"/>
          </a:xfrm>
          <a:prstGeom prst="rect">
            <a:avLst/>
          </a:prstGeom>
          <a:noFill/>
        </p:spPr>
        <p:txBody>
          <a:bodyPr wrap="square">
            <a:spAutoFit/>
          </a:bodyPr>
          <a:lstStyle/>
          <a:p>
            <a:pPr>
              <a:defRPr sz="1250" b="1">
                <a:solidFill>
                  <a:srgbClr val="38BDF8"/>
                </a:solidFill>
                <a:latin typeface="Segoe UI"/>
              </a:defRPr>
            </a:pPr>
            <a:r>
              <a:t>The Centralized PKI Dilemma</a:t>
            </a:r>
          </a:p>
        </p:txBody>
      </p:sp>
      <p:sp>
        <p:nvSpPr>
          <p:cNvPr id="8" name="TextBox 7"/>
          <p:cNvSpPr txBox="1"/>
          <p:nvPr/>
        </p:nvSpPr>
        <p:spPr>
          <a:xfrm>
            <a:off x="868680" y="2011680"/>
            <a:ext cx="3108960" cy="3931920"/>
          </a:xfrm>
          <a:prstGeom prst="rect">
            <a:avLst/>
          </a:prstGeom>
          <a:noFill/>
        </p:spPr>
        <p:txBody>
          <a:bodyPr wrap="square">
            <a:spAutoFit/>
          </a:bodyPr>
          <a:lstStyle/>
          <a:p>
            <a:pPr>
              <a:spcAft>
                <a:spcPts val="800"/>
              </a:spcAft>
              <a:defRPr sz="1050">
                <a:solidFill>
                  <a:srgbClr val="F8FAFC"/>
                </a:solidFill>
                <a:latin typeface="Segoe UI"/>
              </a:defRPr>
            </a:pPr>
            <a:r>
              <a:t>• Classical PKI relies on centralized Certificate Authorities (CAs) by convention.</a:t>
            </a:r>
          </a:p>
          <a:p>
            <a:pPr>
              <a:spcAft>
                <a:spcPts val="800"/>
              </a:spcAft>
              <a:defRPr sz="1050">
                <a:solidFill>
                  <a:srgbClr val="94A3B8"/>
                </a:solidFill>
                <a:latin typeface="Segoe UI"/>
              </a:defRPr>
            </a:pPr>
            <a:r>
              <a:t>• Single Point of Failure: Root CA compromise undermines the entire trust domain.</a:t>
            </a:r>
          </a:p>
          <a:p>
            <a:pPr>
              <a:spcAft>
                <a:spcPts val="800"/>
              </a:spcAft>
              <a:defRPr sz="1050">
                <a:solidFill>
                  <a:srgbClr val="94A3B8"/>
                </a:solidFill>
                <a:latin typeface="Segoe UI"/>
              </a:defRPr>
            </a:pPr>
            <a:r>
              <a:t>• Censorship Vulnerability: Central authorities can arbitrarily revoke or withhold credentials.</a:t>
            </a:r>
          </a:p>
          <a:p>
            <a:pPr>
              <a:spcAft>
                <a:spcPts val="800"/>
              </a:spcAft>
              <a:defRPr sz="1050">
                <a:solidFill>
                  <a:srgbClr val="94A3B8"/>
                </a:solidFill>
                <a:latin typeface="Segoe UI"/>
              </a:defRPr>
            </a:pPr>
            <a:r>
              <a:t>• Structural Mismatch: Hierarchical tree trust contradicts decentralized P2P topologies [1], [7].</a:t>
            </a:r>
          </a:p>
        </p:txBody>
      </p:sp>
      <p:sp>
        <p:nvSpPr>
          <p:cNvPr id="9" name="Rounded Rectangle 8"/>
          <p:cNvSpPr/>
          <p:nvPr/>
        </p:nvSpPr>
        <p:spPr>
          <a:xfrm>
            <a:off x="4389120" y="146304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600200"/>
            <a:ext cx="3054096" cy="365760"/>
          </a:xfrm>
          <a:prstGeom prst="rect">
            <a:avLst/>
          </a:prstGeom>
          <a:noFill/>
        </p:spPr>
        <p:txBody>
          <a:bodyPr wrap="square">
            <a:spAutoFit/>
          </a:bodyPr>
          <a:lstStyle/>
          <a:p>
            <a:pPr>
              <a:defRPr sz="1250" b="1">
                <a:solidFill>
                  <a:srgbClr val="38BDF8"/>
                </a:solidFill>
                <a:latin typeface="Segoe UI"/>
              </a:defRPr>
            </a:pPr>
            <a:r>
              <a:t>Open Network Attack Vectors</a:t>
            </a:r>
          </a:p>
        </p:txBody>
      </p:sp>
      <p:sp>
        <p:nvSpPr>
          <p:cNvPr id="11" name="TextBox 10"/>
          <p:cNvSpPr txBox="1"/>
          <p:nvPr/>
        </p:nvSpPr>
        <p:spPr>
          <a:xfrm>
            <a:off x="4526280" y="2011680"/>
            <a:ext cx="3108960" cy="3931920"/>
          </a:xfrm>
          <a:prstGeom prst="rect">
            <a:avLst/>
          </a:prstGeom>
          <a:noFill/>
        </p:spPr>
        <p:txBody>
          <a:bodyPr wrap="square">
            <a:spAutoFit/>
          </a:bodyPr>
          <a:lstStyle/>
          <a:p>
            <a:pPr>
              <a:spcAft>
                <a:spcPts val="800"/>
              </a:spcAft>
              <a:defRPr sz="1050">
                <a:solidFill>
                  <a:srgbClr val="F8FAFC"/>
                </a:solidFill>
                <a:latin typeface="Segoe UI"/>
              </a:defRPr>
            </a:pPr>
            <a:r>
              <a:t>• Zero-Cost Sybil Attacks: Pseudonyms generated freely to manipulate voting quorums.</a:t>
            </a:r>
          </a:p>
          <a:p>
            <a:pPr>
              <a:spcAft>
                <a:spcPts val="800"/>
              </a:spcAft>
              <a:defRPr sz="1050">
                <a:solidFill>
                  <a:srgbClr val="94A3B8"/>
                </a:solidFill>
                <a:latin typeface="Segoe UI"/>
              </a:defRPr>
            </a:pPr>
            <a:r>
              <a:t>• Strategic Collusion Rings: Cliques award mutual unearned positive ratings.</a:t>
            </a:r>
          </a:p>
          <a:p>
            <a:pPr>
              <a:spcAft>
                <a:spcPts val="800"/>
              </a:spcAft>
              <a:defRPr sz="1050">
                <a:solidFill>
                  <a:srgbClr val="94A3B8"/>
                </a:solidFill>
                <a:latin typeface="Segoe UI"/>
              </a:defRPr>
            </a:pPr>
            <a:r>
              <a:t>• Receipt Grinding: Sybils generate synthetic transaction volumes to harvest reputation.</a:t>
            </a:r>
          </a:p>
          <a:p>
            <a:pPr>
              <a:spcAft>
                <a:spcPts val="800"/>
              </a:spcAft>
              <a:defRPr sz="1050">
                <a:solidFill>
                  <a:srgbClr val="94A3B8"/>
                </a:solidFill>
                <a:latin typeface="Segoe UI"/>
              </a:defRPr>
            </a:pPr>
            <a:r>
              <a:t>• Data Poisoning &amp; Slander: Servers serve corrupted chunks; downloaders file false complaints [3], [4].</a:t>
            </a:r>
          </a:p>
        </p:txBody>
      </p:sp>
      <p:sp>
        <p:nvSpPr>
          <p:cNvPr id="12" name="Rounded Rectangle 11"/>
          <p:cNvSpPr/>
          <p:nvPr/>
        </p:nvSpPr>
        <p:spPr>
          <a:xfrm>
            <a:off x="8046720" y="146304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600200"/>
            <a:ext cx="3054096" cy="365760"/>
          </a:xfrm>
          <a:prstGeom prst="rect">
            <a:avLst/>
          </a:prstGeom>
          <a:noFill/>
        </p:spPr>
        <p:txBody>
          <a:bodyPr wrap="square">
            <a:spAutoFit/>
          </a:bodyPr>
          <a:lstStyle/>
          <a:p>
            <a:pPr>
              <a:defRPr sz="1250" b="1">
                <a:solidFill>
                  <a:srgbClr val="38BDF8"/>
                </a:solidFill>
                <a:latin typeface="Segoe UI"/>
              </a:defRPr>
            </a:pPr>
            <a:r>
              <a:t>Dual Application Paradigms</a:t>
            </a:r>
          </a:p>
        </p:txBody>
      </p:sp>
      <p:sp>
        <p:nvSpPr>
          <p:cNvPr id="14" name="TextBox 13"/>
          <p:cNvSpPr txBox="1"/>
          <p:nvPr/>
        </p:nvSpPr>
        <p:spPr>
          <a:xfrm>
            <a:off x="8183879" y="2011680"/>
            <a:ext cx="3108960" cy="3931920"/>
          </a:xfrm>
          <a:prstGeom prst="rect">
            <a:avLst/>
          </a:prstGeom>
          <a:noFill/>
        </p:spPr>
        <p:txBody>
          <a:bodyPr wrap="square">
            <a:spAutoFit/>
          </a:bodyPr>
          <a:lstStyle/>
          <a:p>
            <a:pPr>
              <a:defRPr sz="1050" b="1">
                <a:solidFill>
                  <a:srgbClr val="10B981"/>
                </a:solidFill>
                <a:latin typeface="Segoe UI"/>
              </a:defRPr>
            </a:pPr>
            <a:r>
              <a:t>• P2P File Sharing (BitTorrent, IPFS):</a:t>
            </a:r>
          </a:p>
          <a:p>
            <a:pPr>
              <a:spcAft>
                <a:spcPts val="1000"/>
              </a:spcAft>
              <a:defRPr sz="1000">
                <a:solidFill>
                  <a:srgbClr val="94A3B8"/>
                </a:solidFill>
                <a:latin typeface="Segoe UI"/>
              </a:defRPr>
            </a:pPr>
            <a:r>
              <a:t>Operational &amp; transactional. Governs chunk integrity, content authenticity, seeder reciprocity, and non-repudiation.</a:t>
            </a:r>
          </a:p>
          <a:p>
            <a:pPr>
              <a:defRPr sz="1050" b="1">
                <a:solidFill>
                  <a:srgbClr val="38BDF8"/>
                </a:solidFill>
                <a:latin typeface="Segoe UI"/>
              </a:defRPr>
            </a:pPr>
            <a:r>
              <a:t>• Decentralized Social (Nostr, Matrix):</a:t>
            </a:r>
          </a:p>
          <a:p>
            <a:pPr>
              <a:spcAft>
                <a:spcPts val="1000"/>
              </a:spcAft>
              <a:defRPr sz="1000">
                <a:solidFill>
                  <a:srgbClr val="94A3B8"/>
                </a:solidFill>
                <a:latin typeface="Segoe UI"/>
              </a:defRPr>
            </a:pPr>
            <a:r>
              <a:t>Relational &amp; subjective. Governs follow assertions, message origins, spam mitigation, and guardian recovery.</a:t>
            </a:r>
          </a:p>
          <a:p>
            <a:pPr>
              <a:defRPr sz="950" i="1">
                <a:solidFill>
                  <a:srgbClr val="F59E0B"/>
                </a:solidFill>
                <a:latin typeface="Segoe UI"/>
              </a:defRPr>
            </a:pPr>
            <a:r>
              <a:t>Scope Boundary: File sharing is empirically evaluated (1,140 trials); social networking is conceptually formulated.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Problem Statement &amp; Formal Research Objectives</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3 of 15</a:t>
            </a:r>
          </a:p>
        </p:txBody>
      </p:sp>
      <p:sp>
        <p:nvSpPr>
          <p:cNvPr id="6" name="Rounded Rectangle 5"/>
          <p:cNvSpPr/>
          <p:nvPr/>
        </p:nvSpPr>
        <p:spPr>
          <a:xfrm>
            <a:off x="731520" y="1463040"/>
            <a:ext cx="10728655" cy="11887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65760"/>
          </a:xfrm>
          <a:prstGeom prst="rect">
            <a:avLst/>
          </a:prstGeom>
          <a:noFill/>
        </p:spPr>
        <p:txBody>
          <a:bodyPr wrap="square">
            <a:spAutoFit/>
          </a:bodyPr>
          <a:lstStyle/>
          <a:p>
            <a:pPr>
              <a:defRPr sz="1250" b="1">
                <a:solidFill>
                  <a:srgbClr val="38BDF8"/>
                </a:solidFill>
                <a:latin typeface="Segoe UI"/>
              </a:defRPr>
            </a:pPr>
            <a:r>
              <a:t>Core Research Problem Statement</a:t>
            </a:r>
          </a:p>
        </p:txBody>
      </p:sp>
      <p:sp>
        <p:nvSpPr>
          <p:cNvPr id="8" name="TextBox 7"/>
          <p:cNvSpPr txBox="1"/>
          <p:nvPr/>
        </p:nvSpPr>
        <p:spPr>
          <a:xfrm>
            <a:off x="868680" y="1874519"/>
            <a:ext cx="10424160" cy="685800"/>
          </a:xfrm>
          <a:prstGeom prst="rect">
            <a:avLst/>
          </a:prstGeom>
          <a:noFill/>
        </p:spPr>
        <p:txBody>
          <a:bodyPr wrap="square">
            <a:spAutoFit/>
          </a:bodyPr>
          <a:lstStyle/>
          <a:p>
            <a:pPr>
              <a:defRPr sz="1200" i="1">
                <a:solidFill>
                  <a:srgbClr val="F8FAFC"/>
                </a:solidFill>
                <a:latin typeface="Segoe UI"/>
              </a:defRPr>
            </a:pPr>
            <a:r>
              <a:t>"How can autonomous peers establish cryptographically verifiable identity and compute robust global reputation in the absence of centralized Certificate Authorities, while bounding Sybil injection and resisting strategic collusion cliques?"</a:t>
            </a:r>
          </a:p>
        </p:txBody>
      </p:sp>
      <p:sp>
        <p:nvSpPr>
          <p:cNvPr id="9" name="Rounded Rectangle 8"/>
          <p:cNvSpPr/>
          <p:nvPr/>
        </p:nvSpPr>
        <p:spPr>
          <a:xfrm>
            <a:off x="731520" y="2834640"/>
            <a:ext cx="5285232" cy="1508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971800"/>
            <a:ext cx="4956048" cy="365760"/>
          </a:xfrm>
          <a:prstGeom prst="rect">
            <a:avLst/>
          </a:prstGeom>
          <a:noFill/>
        </p:spPr>
        <p:txBody>
          <a:bodyPr wrap="square">
            <a:spAutoFit/>
          </a:bodyPr>
          <a:lstStyle/>
          <a:p>
            <a:pPr>
              <a:defRPr sz="1250" b="1">
                <a:solidFill>
                  <a:srgbClr val="38BDF8"/>
                </a:solidFill>
                <a:latin typeface="Segoe UI"/>
              </a:defRPr>
            </a:pPr>
            <a:r>
              <a:t>RO-1: Admission &amp; Identity</a:t>
            </a:r>
          </a:p>
        </p:txBody>
      </p:sp>
      <p:sp>
        <p:nvSpPr>
          <p:cNvPr id="11" name="TextBox 10"/>
          <p:cNvSpPr txBox="1"/>
          <p:nvPr/>
        </p:nvSpPr>
        <p:spPr>
          <a:xfrm>
            <a:off x="896112" y="3337560"/>
            <a:ext cx="4956048" cy="914400"/>
          </a:xfrm>
          <a:prstGeom prst="rect">
            <a:avLst/>
          </a:prstGeom>
          <a:noFill/>
        </p:spPr>
        <p:txBody>
          <a:bodyPr wrap="square">
            <a:spAutoFit/>
          </a:bodyPr>
          <a:lstStyle/>
          <a:p>
            <a:pPr>
              <a:defRPr sz="1050">
                <a:solidFill>
                  <a:srgbClr val="94A3B8"/>
                </a:solidFill>
                <a:latin typeface="Segoe UI"/>
              </a:defRPr>
            </a:pPr>
            <a:r>
              <a:t>Design a self-sovereign identity scheme binding Ed25519 public keys to DIDs with non-interactive Proof-of-Work to throttle zero-cost Sybil key generation.</a:t>
            </a:r>
          </a:p>
        </p:txBody>
      </p:sp>
      <p:sp>
        <p:nvSpPr>
          <p:cNvPr id="12" name="Rounded Rectangle 11"/>
          <p:cNvSpPr/>
          <p:nvPr/>
        </p:nvSpPr>
        <p:spPr>
          <a:xfrm>
            <a:off x="6172200" y="2834640"/>
            <a:ext cx="5285232" cy="1508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2971800"/>
            <a:ext cx="4956048" cy="365760"/>
          </a:xfrm>
          <a:prstGeom prst="rect">
            <a:avLst/>
          </a:prstGeom>
          <a:noFill/>
        </p:spPr>
        <p:txBody>
          <a:bodyPr wrap="square">
            <a:spAutoFit/>
          </a:bodyPr>
          <a:lstStyle/>
          <a:p>
            <a:pPr>
              <a:defRPr sz="1250" b="1">
                <a:solidFill>
                  <a:srgbClr val="38BDF8"/>
                </a:solidFill>
                <a:latin typeface="Segoe UI"/>
              </a:defRPr>
            </a:pPr>
            <a:r>
              <a:t>RO-2: Web-of-Trust PKI</a:t>
            </a:r>
          </a:p>
        </p:txBody>
      </p:sp>
      <p:sp>
        <p:nvSpPr>
          <p:cNvPr id="14" name="TextBox 13"/>
          <p:cNvSpPr txBox="1"/>
          <p:nvPr/>
        </p:nvSpPr>
        <p:spPr>
          <a:xfrm>
            <a:off x="6336792" y="3337560"/>
            <a:ext cx="4956048" cy="914400"/>
          </a:xfrm>
          <a:prstGeom prst="rect">
            <a:avLst/>
          </a:prstGeom>
          <a:noFill/>
        </p:spPr>
        <p:txBody>
          <a:bodyPr wrap="square">
            <a:spAutoFit/>
          </a:bodyPr>
          <a:lstStyle/>
          <a:p>
            <a:pPr>
              <a:defRPr sz="1050">
                <a:solidFill>
                  <a:srgbClr val="94A3B8"/>
                </a:solidFill>
                <a:latin typeface="Segoe UI"/>
              </a:defRPr>
            </a:pPr>
            <a:r>
              <a:t>Implement a decentralized peer-to-peer certificate mesh with bounded transitive path verification (depth &lt;= 3) and local revocation caching.</a:t>
            </a:r>
          </a:p>
        </p:txBody>
      </p:sp>
      <p:sp>
        <p:nvSpPr>
          <p:cNvPr id="15" name="Rounded Rectangle 14"/>
          <p:cNvSpPr/>
          <p:nvPr/>
        </p:nvSpPr>
        <p:spPr>
          <a:xfrm>
            <a:off x="731520" y="4526280"/>
            <a:ext cx="5285232" cy="1508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4663440"/>
            <a:ext cx="4956048" cy="365760"/>
          </a:xfrm>
          <a:prstGeom prst="rect">
            <a:avLst/>
          </a:prstGeom>
          <a:noFill/>
        </p:spPr>
        <p:txBody>
          <a:bodyPr wrap="square">
            <a:spAutoFit/>
          </a:bodyPr>
          <a:lstStyle/>
          <a:p>
            <a:pPr>
              <a:defRPr sz="1250" b="1">
                <a:solidFill>
                  <a:srgbClr val="38BDF8"/>
                </a:solidFill>
                <a:latin typeface="Segoe UI"/>
              </a:defRPr>
            </a:pPr>
            <a:r>
              <a:t>RO-3: Spectral Trust Algorithm</a:t>
            </a:r>
          </a:p>
        </p:txBody>
      </p:sp>
      <p:sp>
        <p:nvSpPr>
          <p:cNvPr id="17" name="TextBox 16"/>
          <p:cNvSpPr txBox="1"/>
          <p:nvPr/>
        </p:nvSpPr>
        <p:spPr>
          <a:xfrm>
            <a:off x="896112" y="5029200"/>
            <a:ext cx="4956048" cy="914400"/>
          </a:xfrm>
          <a:prstGeom prst="rect">
            <a:avLst/>
          </a:prstGeom>
          <a:noFill/>
        </p:spPr>
        <p:txBody>
          <a:bodyPr wrap="square">
            <a:spAutoFit/>
          </a:bodyPr>
          <a:lstStyle/>
          <a:p>
            <a:pPr>
              <a:defRPr sz="1050">
                <a:solidFill>
                  <a:srgbClr val="94A3B8"/>
                </a:solidFill>
                <a:latin typeface="Segoe UI"/>
              </a:defRPr>
            </a:pPr>
            <a:r>
              <a:t>Develop EW-EigenTrust v1.8, integrating bilateral interaction receipts, Merkle fault attribution, and pre-trusted restart vectors for collusion resistance.</a:t>
            </a:r>
          </a:p>
        </p:txBody>
      </p:sp>
      <p:sp>
        <p:nvSpPr>
          <p:cNvPr id="18" name="Rounded Rectangle 17"/>
          <p:cNvSpPr/>
          <p:nvPr/>
        </p:nvSpPr>
        <p:spPr>
          <a:xfrm>
            <a:off x="6172200" y="4526280"/>
            <a:ext cx="5285232" cy="1508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6792" y="4663440"/>
            <a:ext cx="4956048" cy="365760"/>
          </a:xfrm>
          <a:prstGeom prst="rect">
            <a:avLst/>
          </a:prstGeom>
          <a:noFill/>
        </p:spPr>
        <p:txBody>
          <a:bodyPr wrap="square">
            <a:spAutoFit/>
          </a:bodyPr>
          <a:lstStyle/>
          <a:p>
            <a:pPr>
              <a:defRPr sz="1250" b="1">
                <a:solidFill>
                  <a:srgbClr val="38BDF8"/>
                </a:solidFill>
                <a:latin typeface="Segoe UI"/>
              </a:defRPr>
            </a:pPr>
            <a:r>
              <a:t>RO-4: Fault Attribution &amp; Recovery</a:t>
            </a:r>
          </a:p>
        </p:txBody>
      </p:sp>
      <p:sp>
        <p:nvSpPr>
          <p:cNvPr id="20" name="TextBox 19"/>
          <p:cNvSpPr txBox="1"/>
          <p:nvPr/>
        </p:nvSpPr>
        <p:spPr>
          <a:xfrm>
            <a:off x="6336792" y="5029200"/>
            <a:ext cx="4956048" cy="914400"/>
          </a:xfrm>
          <a:prstGeom prst="rect">
            <a:avLst/>
          </a:prstGeom>
          <a:noFill/>
        </p:spPr>
        <p:txBody>
          <a:bodyPr wrap="square">
            <a:spAutoFit/>
          </a:bodyPr>
          <a:lstStyle/>
          <a:p>
            <a:pPr>
              <a:defRPr sz="1050">
                <a:solidFill>
                  <a:srgbClr val="94A3B8"/>
                </a:solidFill>
                <a:latin typeface="Segoe UI"/>
              </a:defRPr>
            </a:pPr>
            <a:r>
              <a:t>Establish deterministic Merkle tree corruption proof localization, certificate revocation broadcasting, and Shamir (k,n) key recovery governance.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Literature Review &amp; Identified Research Gap</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4 of 15</a:t>
            </a:r>
          </a:p>
        </p:txBody>
      </p:sp>
      <p:sp>
        <p:nvSpPr>
          <p:cNvPr id="6" name="Rounded Rectangle 5"/>
          <p:cNvSpPr/>
          <p:nvPr/>
        </p:nvSpPr>
        <p:spPr>
          <a:xfrm>
            <a:off x="731520" y="1463040"/>
            <a:ext cx="3456432" cy="31089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3127248" cy="365760"/>
          </a:xfrm>
          <a:prstGeom prst="rect">
            <a:avLst/>
          </a:prstGeom>
          <a:noFill/>
        </p:spPr>
        <p:txBody>
          <a:bodyPr wrap="square">
            <a:spAutoFit/>
          </a:bodyPr>
          <a:lstStyle/>
          <a:p>
            <a:pPr>
              <a:defRPr sz="1250" b="1">
                <a:solidFill>
                  <a:srgbClr val="38BDF8"/>
                </a:solidFill>
                <a:latin typeface="Segoe UI"/>
              </a:defRPr>
            </a:pPr>
            <a:r>
              <a:t>Classical Web-of-Trust</a:t>
            </a:r>
          </a:p>
        </p:txBody>
      </p:sp>
      <p:sp>
        <p:nvSpPr>
          <p:cNvPr id="8" name="TextBox 7"/>
          <p:cNvSpPr txBox="1"/>
          <p:nvPr/>
        </p:nvSpPr>
        <p:spPr>
          <a:xfrm>
            <a:off x="896112" y="1920240"/>
            <a:ext cx="3127248" cy="2560320"/>
          </a:xfrm>
          <a:prstGeom prst="rect">
            <a:avLst/>
          </a:prstGeom>
          <a:noFill/>
        </p:spPr>
        <p:txBody>
          <a:bodyPr wrap="square">
            <a:spAutoFit/>
          </a:bodyPr>
          <a:lstStyle/>
          <a:p>
            <a:pPr>
              <a:spcAft>
                <a:spcPts val="600"/>
              </a:spcAft>
              <a:defRPr sz="950" b="1">
                <a:solidFill>
                  <a:srgbClr val="F59E0B"/>
                </a:solidFill>
                <a:latin typeface="Segoe UI"/>
              </a:defRPr>
            </a:pPr>
            <a:r>
              <a:t>PGP / Zimmermann (1995) [6]</a:t>
            </a:r>
            <a:br/>
            <a:r>
              <a:t>IETF RFC 2693 SPKI [2]</a:t>
            </a:r>
          </a:p>
          <a:p>
            <a:pPr>
              <a:spcAft>
                <a:spcPts val="500"/>
              </a:spcAft>
              <a:defRPr sz="950">
                <a:solidFill>
                  <a:srgbClr val="94A3B8"/>
                </a:solidFill>
                <a:latin typeface="Segoe UI"/>
              </a:defRPr>
            </a:pPr>
            <a:r>
              <a:t>• Decentralized cross-signing of public key certificates without root CAs.</a:t>
            </a:r>
          </a:p>
          <a:p>
            <a:pPr>
              <a:spcAft>
                <a:spcPts val="500"/>
              </a:spcAft>
              <a:defRPr sz="950">
                <a:solidFill>
                  <a:srgbClr val="94A3B8"/>
                </a:solidFill>
                <a:latin typeface="Segoe UI"/>
              </a:defRPr>
            </a:pPr>
            <a:r>
              <a:t>• Limitations: Subjective path explosion; rapid confidence decay over multi-hop paths.</a:t>
            </a:r>
          </a:p>
          <a:p>
            <a:pPr>
              <a:spcAft>
                <a:spcPts val="500"/>
              </a:spcAft>
              <a:defRPr sz="950">
                <a:solidFill>
                  <a:srgbClr val="94A3B8"/>
                </a:solidFill>
                <a:latin typeface="Segoe UI"/>
              </a:defRPr>
            </a:pPr>
            <a:r>
              <a:t>• Lacks global reputation convergence; vulnerable to Sybil trust inflation.</a:t>
            </a:r>
          </a:p>
        </p:txBody>
      </p:sp>
      <p:sp>
        <p:nvSpPr>
          <p:cNvPr id="9" name="Rounded Rectangle 8"/>
          <p:cNvSpPr/>
          <p:nvPr/>
        </p:nvSpPr>
        <p:spPr>
          <a:xfrm>
            <a:off x="4370832" y="1463040"/>
            <a:ext cx="3456432" cy="31089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600200"/>
            <a:ext cx="3127248" cy="365760"/>
          </a:xfrm>
          <a:prstGeom prst="rect">
            <a:avLst/>
          </a:prstGeom>
          <a:noFill/>
        </p:spPr>
        <p:txBody>
          <a:bodyPr wrap="square">
            <a:spAutoFit/>
          </a:bodyPr>
          <a:lstStyle/>
          <a:p>
            <a:pPr>
              <a:defRPr sz="1250" b="1">
                <a:solidFill>
                  <a:srgbClr val="38BDF8"/>
                </a:solidFill>
                <a:latin typeface="Segoe UI"/>
              </a:defRPr>
            </a:pPr>
            <a:r>
              <a:t>Spectral Reputation</a:t>
            </a:r>
          </a:p>
        </p:txBody>
      </p:sp>
      <p:sp>
        <p:nvSpPr>
          <p:cNvPr id="11" name="TextBox 10"/>
          <p:cNvSpPr txBox="1"/>
          <p:nvPr/>
        </p:nvSpPr>
        <p:spPr>
          <a:xfrm>
            <a:off x="4535424" y="1920240"/>
            <a:ext cx="3127248" cy="2560320"/>
          </a:xfrm>
          <a:prstGeom prst="rect">
            <a:avLst/>
          </a:prstGeom>
          <a:noFill/>
        </p:spPr>
        <p:txBody>
          <a:bodyPr wrap="square">
            <a:spAutoFit/>
          </a:bodyPr>
          <a:lstStyle/>
          <a:p>
            <a:pPr>
              <a:spcAft>
                <a:spcPts val="600"/>
              </a:spcAft>
              <a:defRPr sz="950" b="1">
                <a:solidFill>
                  <a:srgbClr val="F59E0B"/>
                </a:solidFill>
                <a:latin typeface="Segoe UI"/>
              </a:defRPr>
            </a:pPr>
            <a:r>
              <a:t>EigenTrust / Kamvar (2003) [3]</a:t>
            </a:r>
            <a:br/>
            <a:r>
              <a:t>PageRank / Brin &amp; Page</a:t>
            </a:r>
          </a:p>
          <a:p>
            <a:pPr>
              <a:spcAft>
                <a:spcPts val="500"/>
              </a:spcAft>
              <a:defRPr sz="950">
                <a:solidFill>
                  <a:srgbClr val="94A3B8"/>
                </a:solidFill>
                <a:latin typeface="Segoe UI"/>
              </a:defRPr>
            </a:pPr>
            <a:r>
              <a:t>• Computes global trust via left principal eigenvector of normalized rating matrix.</a:t>
            </a:r>
          </a:p>
          <a:p>
            <a:pPr>
              <a:spcAft>
                <a:spcPts val="500"/>
              </a:spcAft>
              <a:defRPr sz="950">
                <a:solidFill>
                  <a:srgbClr val="94A3B8"/>
                </a:solidFill>
                <a:latin typeface="Segoe UI"/>
              </a:defRPr>
            </a:pPr>
            <a:r>
              <a:t>• Limitations: Assumes static honest pre-trusted seeds; lacks objective transaction proofs.</a:t>
            </a:r>
          </a:p>
          <a:p>
            <a:pPr>
              <a:spcAft>
                <a:spcPts val="500"/>
              </a:spcAft>
              <a:defRPr sz="950">
                <a:solidFill>
                  <a:srgbClr val="94A3B8"/>
                </a:solidFill>
                <a:latin typeface="Segoe UI"/>
              </a:defRPr>
            </a:pPr>
            <a:r>
              <a:t>• Vulnerable to unweighted receipt grinding and coordinated rating cliques.</a:t>
            </a:r>
          </a:p>
        </p:txBody>
      </p:sp>
      <p:sp>
        <p:nvSpPr>
          <p:cNvPr id="12" name="Rounded Rectangle 11"/>
          <p:cNvSpPr/>
          <p:nvPr/>
        </p:nvSpPr>
        <p:spPr>
          <a:xfrm>
            <a:off x="8010144" y="1463040"/>
            <a:ext cx="3456432" cy="31089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6" y="1600200"/>
            <a:ext cx="3127248" cy="365760"/>
          </a:xfrm>
          <a:prstGeom prst="rect">
            <a:avLst/>
          </a:prstGeom>
          <a:noFill/>
        </p:spPr>
        <p:txBody>
          <a:bodyPr wrap="square">
            <a:spAutoFit/>
          </a:bodyPr>
          <a:lstStyle/>
          <a:p>
            <a:pPr>
              <a:defRPr sz="1250" b="1">
                <a:solidFill>
                  <a:srgbClr val="38BDF8"/>
                </a:solidFill>
                <a:latin typeface="Segoe UI"/>
              </a:defRPr>
            </a:pPr>
            <a:r>
              <a:t>Decentralized Identity &amp; PoW</a:t>
            </a:r>
          </a:p>
        </p:txBody>
      </p:sp>
      <p:sp>
        <p:nvSpPr>
          <p:cNvPr id="14" name="TextBox 13"/>
          <p:cNvSpPr txBox="1"/>
          <p:nvPr/>
        </p:nvSpPr>
        <p:spPr>
          <a:xfrm>
            <a:off x="8174736" y="1920240"/>
            <a:ext cx="3127248" cy="2560320"/>
          </a:xfrm>
          <a:prstGeom prst="rect">
            <a:avLst/>
          </a:prstGeom>
          <a:noFill/>
        </p:spPr>
        <p:txBody>
          <a:bodyPr wrap="square">
            <a:spAutoFit/>
          </a:bodyPr>
          <a:lstStyle/>
          <a:p>
            <a:pPr>
              <a:spcAft>
                <a:spcPts val="600"/>
              </a:spcAft>
              <a:defRPr sz="950" b="1">
                <a:solidFill>
                  <a:srgbClr val="F59E0B"/>
                </a:solidFill>
                <a:latin typeface="Segoe UI"/>
              </a:defRPr>
            </a:pPr>
            <a:r>
              <a:t>DIF W3C DIDs (2022) [1]</a:t>
            </a:r>
            <a:br/>
            <a:r>
              <a:t>Bitcoin / Nakamoto (2008) [4]</a:t>
            </a:r>
          </a:p>
          <a:p>
            <a:pPr>
              <a:spcAft>
                <a:spcPts val="500"/>
              </a:spcAft>
              <a:defRPr sz="950">
                <a:solidFill>
                  <a:srgbClr val="94A3B8"/>
                </a:solidFill>
                <a:latin typeface="Segoe UI"/>
              </a:defRPr>
            </a:pPr>
            <a:r>
              <a:t>• Self-sovereign identifiers and computational admission barriers.</a:t>
            </a:r>
          </a:p>
          <a:p>
            <a:pPr>
              <a:spcAft>
                <a:spcPts val="500"/>
              </a:spcAft>
              <a:defRPr sz="950">
                <a:solidFill>
                  <a:srgbClr val="94A3B8"/>
                </a:solidFill>
                <a:latin typeface="Segoe UI"/>
              </a:defRPr>
            </a:pPr>
            <a:r>
              <a:t>• Limitations: DIDs decouple identity from operational accountability.</a:t>
            </a:r>
          </a:p>
          <a:p>
            <a:pPr>
              <a:spcAft>
                <a:spcPts val="500"/>
              </a:spcAft>
              <a:defRPr sz="950">
                <a:solidFill>
                  <a:srgbClr val="94A3B8"/>
                </a:solidFill>
                <a:latin typeface="Segoe UI"/>
              </a:defRPr>
            </a:pPr>
            <a:r>
              <a:t>• PoW throttles creation rates but provides no mechanism for evaluating behavioral trust.</a:t>
            </a:r>
          </a:p>
        </p:txBody>
      </p:sp>
      <p:sp>
        <p:nvSpPr>
          <p:cNvPr id="15" name="Rounded Rectangle 14"/>
          <p:cNvSpPr/>
          <p:nvPr/>
        </p:nvSpPr>
        <p:spPr>
          <a:xfrm>
            <a:off x="731520" y="4709160"/>
            <a:ext cx="10728655" cy="14173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4846320"/>
            <a:ext cx="10399471" cy="365760"/>
          </a:xfrm>
          <a:prstGeom prst="rect">
            <a:avLst/>
          </a:prstGeom>
          <a:noFill/>
        </p:spPr>
        <p:txBody>
          <a:bodyPr wrap="square">
            <a:spAutoFit/>
          </a:bodyPr>
          <a:lstStyle/>
          <a:p>
            <a:pPr>
              <a:defRPr sz="1250" b="1">
                <a:solidFill>
                  <a:srgbClr val="38BDF8"/>
                </a:solidFill>
                <a:latin typeface="Segoe UI"/>
              </a:defRPr>
            </a:pPr>
            <a:r>
              <a:t>The Critical Research Gap &amp; Proposed Synthesis</a:t>
            </a:r>
          </a:p>
        </p:txBody>
      </p:sp>
      <p:sp>
        <p:nvSpPr>
          <p:cNvPr id="17" name="TextBox 16"/>
          <p:cNvSpPr txBox="1"/>
          <p:nvPr/>
        </p:nvSpPr>
        <p:spPr>
          <a:xfrm>
            <a:off x="868680" y="5074920"/>
            <a:ext cx="10424160" cy="960120"/>
          </a:xfrm>
          <a:prstGeom prst="rect">
            <a:avLst/>
          </a:prstGeom>
          <a:noFill/>
        </p:spPr>
        <p:txBody>
          <a:bodyPr wrap="square">
            <a:spAutoFit/>
          </a:bodyPr>
          <a:lstStyle/>
          <a:p>
            <a:pPr>
              <a:defRPr sz="1050">
                <a:solidFill>
                  <a:srgbClr val="F8FAFC"/>
                </a:solidFill>
                <a:latin typeface="Segoe UI"/>
              </a:defRPr>
            </a:pPr>
            <a:r>
              <a:t>Prior systems decouple cryptographic authentication from reputation feedback: PKI architectures ignore operational behavior, while reputation algorithms compute ratings over malleable pseudonyms vulnerable to whitewashing. Our contribution is a vertically integrated 4-layer architecture synthesizing PoW admission, mesh WoT PKI, evidence-weighted spectral trust, and Merkle fault attribution into a unified, cryptographically enforced pipeline.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Proposed Vertically Integrated Four-Layer Architecture</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5 of 15</a:t>
            </a:r>
          </a:p>
        </p:txBody>
      </p:sp>
      <p:sp>
        <p:nvSpPr>
          <p:cNvPr id="6" name="Rounded Rectangle 5"/>
          <p:cNvSpPr/>
          <p:nvPr/>
        </p:nvSpPr>
        <p:spPr>
          <a:xfrm>
            <a:off x="731520" y="1463040"/>
            <a:ext cx="10728655" cy="100584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645920"/>
            <a:ext cx="3291840" cy="640080"/>
          </a:xfrm>
          <a:prstGeom prst="roundRect">
            <a:avLst/>
          </a:prstGeom>
          <a:solidFill>
            <a:srgbClr val="0F172A"/>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91640"/>
            <a:ext cx="3200400" cy="548640"/>
          </a:xfrm>
          <a:prstGeom prst="rect">
            <a:avLst/>
          </a:prstGeom>
          <a:noFill/>
        </p:spPr>
        <p:txBody>
          <a:bodyPr wrap="square">
            <a:spAutoFit/>
          </a:bodyPr>
          <a:lstStyle/>
          <a:p>
            <a:pPr>
              <a:defRPr sz="1100" b="1">
                <a:solidFill>
                  <a:srgbClr val="F43F5E"/>
                </a:solidFill>
                <a:latin typeface="Segoe UI"/>
              </a:defRPr>
            </a:pPr>
            <a:r>
              <a:t>Layer 4: Revocation &amp; Key Governance</a:t>
            </a:r>
          </a:p>
        </p:txBody>
      </p:sp>
      <p:sp>
        <p:nvSpPr>
          <p:cNvPr id="9" name="TextBox 8"/>
          <p:cNvSpPr txBox="1"/>
          <p:nvPr/>
        </p:nvSpPr>
        <p:spPr>
          <a:xfrm>
            <a:off x="4389120" y="1645920"/>
            <a:ext cx="6858000" cy="640080"/>
          </a:xfrm>
          <a:prstGeom prst="rect">
            <a:avLst/>
          </a:prstGeom>
          <a:noFill/>
        </p:spPr>
        <p:txBody>
          <a:bodyPr wrap="square">
            <a:spAutoFit/>
          </a:bodyPr>
          <a:lstStyle/>
          <a:p>
            <a:pPr>
              <a:defRPr sz="1050">
                <a:solidFill>
                  <a:srgbClr val="F8FAFC"/>
                </a:solidFill>
                <a:latin typeface="Segoe UI"/>
              </a:defRPr>
            </a:pPr>
            <a:r>
              <a:t>Merkle chunk fault proofs, CRL gossip broadcasting, and Shamir (3,5) polynomial secret sharing for key recovery.</a:t>
            </a:r>
          </a:p>
        </p:txBody>
      </p:sp>
      <p:sp>
        <p:nvSpPr>
          <p:cNvPr id="10" name="Rounded Rectangle 9"/>
          <p:cNvSpPr/>
          <p:nvPr/>
        </p:nvSpPr>
        <p:spPr>
          <a:xfrm>
            <a:off x="731520" y="2606040"/>
            <a:ext cx="10728655" cy="100584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 y="2788920"/>
            <a:ext cx="3291840" cy="640080"/>
          </a:xfrm>
          <a:prstGeom prst="roundRect">
            <a:avLst/>
          </a:prstGeom>
          <a:solidFill>
            <a:srgbClr val="0F172A"/>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834640"/>
            <a:ext cx="3200400" cy="548640"/>
          </a:xfrm>
          <a:prstGeom prst="rect">
            <a:avLst/>
          </a:prstGeom>
          <a:noFill/>
        </p:spPr>
        <p:txBody>
          <a:bodyPr wrap="square">
            <a:spAutoFit/>
          </a:bodyPr>
          <a:lstStyle/>
          <a:p>
            <a:pPr>
              <a:defRPr sz="1100" b="1">
                <a:solidFill>
                  <a:srgbClr val="F59E0B"/>
                </a:solidFill>
                <a:latin typeface="Segoe UI"/>
              </a:defRPr>
            </a:pPr>
            <a:r>
              <a:t>Layer 3: Evidence-Weighted EigenTrust v1.8</a:t>
            </a:r>
          </a:p>
        </p:txBody>
      </p:sp>
      <p:sp>
        <p:nvSpPr>
          <p:cNvPr id="13" name="TextBox 12"/>
          <p:cNvSpPr txBox="1"/>
          <p:nvPr/>
        </p:nvSpPr>
        <p:spPr>
          <a:xfrm>
            <a:off x="4389120" y="2788920"/>
            <a:ext cx="6858000" cy="640080"/>
          </a:xfrm>
          <a:prstGeom prst="rect">
            <a:avLst/>
          </a:prstGeom>
          <a:noFill/>
        </p:spPr>
        <p:txBody>
          <a:bodyPr wrap="square">
            <a:spAutoFit/>
          </a:bodyPr>
          <a:lstStyle/>
          <a:p>
            <a:pPr>
              <a:defRPr sz="1050">
                <a:solidFill>
                  <a:srgbClr val="F8FAFC"/>
                </a:solidFill>
                <a:latin typeface="Segoe UI"/>
              </a:defRPr>
            </a:pPr>
            <a:r>
              <a:t>Spectral trust iteration over evidence-weighted matrix C', incorporating bilateral receipts, dispute penalties, and restart vector p.</a:t>
            </a:r>
          </a:p>
        </p:txBody>
      </p:sp>
      <p:sp>
        <p:nvSpPr>
          <p:cNvPr id="14" name="Rounded Rectangle 13"/>
          <p:cNvSpPr/>
          <p:nvPr/>
        </p:nvSpPr>
        <p:spPr>
          <a:xfrm>
            <a:off x="731520" y="3749039"/>
            <a:ext cx="10728655" cy="10058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3931919"/>
            <a:ext cx="3291840" cy="640080"/>
          </a:xfrm>
          <a:prstGeom prst="roundRect">
            <a:avLst/>
          </a:prstGeom>
          <a:solidFill>
            <a:srgbClr val="0F172A"/>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977639"/>
            <a:ext cx="3200400" cy="548640"/>
          </a:xfrm>
          <a:prstGeom prst="rect">
            <a:avLst/>
          </a:prstGeom>
          <a:noFill/>
        </p:spPr>
        <p:txBody>
          <a:bodyPr wrap="square">
            <a:spAutoFit/>
          </a:bodyPr>
          <a:lstStyle/>
          <a:p>
            <a:pPr>
              <a:defRPr sz="1100" b="1">
                <a:solidFill>
                  <a:srgbClr val="38BDF8"/>
                </a:solidFill>
                <a:latin typeface="Segoe UI"/>
              </a:defRPr>
            </a:pPr>
            <a:r>
              <a:t>Layer 2: Web-of-Trust Mesh PKI</a:t>
            </a:r>
          </a:p>
        </p:txBody>
      </p:sp>
      <p:sp>
        <p:nvSpPr>
          <p:cNvPr id="17" name="TextBox 16"/>
          <p:cNvSpPr txBox="1"/>
          <p:nvPr/>
        </p:nvSpPr>
        <p:spPr>
          <a:xfrm>
            <a:off x="4389120" y="3931919"/>
            <a:ext cx="6858000" cy="640080"/>
          </a:xfrm>
          <a:prstGeom prst="rect">
            <a:avLst/>
          </a:prstGeom>
          <a:noFill/>
        </p:spPr>
        <p:txBody>
          <a:bodyPr wrap="square">
            <a:spAutoFit/>
          </a:bodyPr>
          <a:lstStyle/>
          <a:p>
            <a:pPr>
              <a:defRPr sz="1050">
                <a:solidFill>
                  <a:srgbClr val="F8FAFC"/>
                </a:solidFill>
                <a:latin typeface="Segoe UI"/>
              </a:defRPr>
            </a:pPr>
            <a:r>
              <a:t>Peer-to-peer X.509-like certificates, Ed25519 cross-signing, 30-day validity windows, and bounded path discovery (depth &lt;= 3).</a:t>
            </a:r>
          </a:p>
        </p:txBody>
      </p:sp>
      <p:sp>
        <p:nvSpPr>
          <p:cNvPr id="18" name="Rounded Rectangle 17"/>
          <p:cNvSpPr/>
          <p:nvPr/>
        </p:nvSpPr>
        <p:spPr>
          <a:xfrm>
            <a:off x="731520" y="4892040"/>
            <a:ext cx="10728655" cy="100584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5074920"/>
            <a:ext cx="3291840" cy="640080"/>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120640"/>
            <a:ext cx="3200400" cy="548640"/>
          </a:xfrm>
          <a:prstGeom prst="rect">
            <a:avLst/>
          </a:prstGeom>
          <a:noFill/>
        </p:spPr>
        <p:txBody>
          <a:bodyPr wrap="square">
            <a:spAutoFit/>
          </a:bodyPr>
          <a:lstStyle/>
          <a:p>
            <a:pPr>
              <a:defRPr sz="1100" b="1">
                <a:solidFill>
                  <a:srgbClr val="10B981"/>
                </a:solidFill>
                <a:latin typeface="Segoe UI"/>
              </a:defRPr>
            </a:pPr>
            <a:r>
              <a:t>Layer 1: Identity &amp; PoW Admission</a:t>
            </a:r>
          </a:p>
        </p:txBody>
      </p:sp>
      <p:sp>
        <p:nvSpPr>
          <p:cNvPr id="21" name="TextBox 20"/>
          <p:cNvSpPr txBox="1"/>
          <p:nvPr/>
        </p:nvSpPr>
        <p:spPr>
          <a:xfrm>
            <a:off x="4389120" y="5074920"/>
            <a:ext cx="6858000" cy="640080"/>
          </a:xfrm>
          <a:prstGeom prst="rect">
            <a:avLst/>
          </a:prstGeom>
          <a:noFill/>
        </p:spPr>
        <p:txBody>
          <a:bodyPr wrap="square">
            <a:spAutoFit/>
          </a:bodyPr>
          <a:lstStyle/>
          <a:p>
            <a:pPr>
              <a:defRPr sz="1050">
                <a:solidFill>
                  <a:srgbClr val="F8FAFC"/>
                </a:solidFill>
                <a:latin typeface="Segoe UI"/>
              </a:defRPr>
            </a:pPr>
            <a:r>
              <a:t>Deterministic 'did:pki:ed25519:&lt;pubkey&gt;' identifiers bound to SHA-256 Proof-of-Work challenge (D &gt;= 16 bits).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Layer 1: Self-Sovereign Identity &amp; Proof-of-Work Admission</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6 of 15</a:t>
            </a:r>
          </a:p>
        </p:txBody>
      </p:sp>
      <p:sp>
        <p:nvSpPr>
          <p:cNvPr id="6" name="Rounded Rectangle 5"/>
          <p:cNvSpPr/>
          <p:nvPr/>
        </p:nvSpPr>
        <p:spPr>
          <a:xfrm>
            <a:off x="731520" y="1463040"/>
            <a:ext cx="5212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882896" cy="365760"/>
          </a:xfrm>
          <a:prstGeom prst="rect">
            <a:avLst/>
          </a:prstGeom>
          <a:noFill/>
        </p:spPr>
        <p:txBody>
          <a:bodyPr wrap="square">
            <a:spAutoFit/>
          </a:bodyPr>
          <a:lstStyle/>
          <a:p>
            <a:pPr>
              <a:defRPr sz="1250" b="1">
                <a:solidFill>
                  <a:srgbClr val="38BDF8"/>
                </a:solidFill>
                <a:latin typeface="Segoe UI"/>
              </a:defRPr>
            </a:pPr>
            <a:r>
              <a:t>Deterministic Identity Binding</a:t>
            </a:r>
          </a:p>
        </p:txBody>
      </p:sp>
      <p:sp>
        <p:nvSpPr>
          <p:cNvPr id="8" name="TextBox 7"/>
          <p:cNvSpPr txBox="1"/>
          <p:nvPr/>
        </p:nvSpPr>
        <p:spPr>
          <a:xfrm>
            <a:off x="868680" y="2011680"/>
            <a:ext cx="4937760" cy="3931920"/>
          </a:xfrm>
          <a:prstGeom prst="rect">
            <a:avLst/>
          </a:prstGeom>
          <a:noFill/>
        </p:spPr>
        <p:txBody>
          <a:bodyPr wrap="square">
            <a:spAutoFit/>
          </a:bodyPr>
          <a:lstStyle/>
          <a:p>
            <a:pPr>
              <a:defRPr sz="1100" b="1">
                <a:solidFill>
                  <a:srgbClr val="38BDF8"/>
                </a:solidFill>
                <a:latin typeface="Segoe UI"/>
              </a:defRPr>
            </a:pPr>
            <a:r>
              <a:t>• DID Specification:</a:t>
            </a:r>
          </a:p>
          <a:p>
            <a:pPr>
              <a:spcAft>
                <a:spcPts val="800"/>
              </a:spcAft>
              <a:defRPr sz="950">
                <a:solidFill>
                  <a:srgbClr val="10B981"/>
                </a:solidFill>
                <a:latin typeface="Consolas"/>
              </a:defRPr>
            </a:pPr>
            <a:r>
              <a:t>did:pki:ed25519:&lt;64-character-hex-encoded-pubkey&gt;</a:t>
            </a:r>
          </a:p>
          <a:p>
            <a:pPr>
              <a:defRPr sz="1050" b="1">
                <a:solidFill>
                  <a:srgbClr val="F8FAFC"/>
                </a:solidFill>
                <a:latin typeface="Segoe UI"/>
              </a:defRPr>
            </a:pPr>
            <a:r>
              <a:t>• Self-Sovereign Cryptographic Root:</a:t>
            </a:r>
          </a:p>
          <a:p>
            <a:pPr>
              <a:spcAft>
                <a:spcPts val="600"/>
              </a:spcAft>
              <a:defRPr sz="1000">
                <a:solidFill>
                  <a:srgbClr val="94A3B8"/>
                </a:solidFill>
                <a:latin typeface="Segoe UI"/>
              </a:defRPr>
            </a:pPr>
            <a:r>
              <a:t>Keypair generation requires no central registry. Ed25519 provides 128-bit security level with compact 32-byte public keys and 64-byte signatures.</a:t>
            </a:r>
          </a:p>
          <a:p>
            <a:pPr>
              <a:defRPr sz="1050" b="1">
                <a:solidFill>
                  <a:srgbClr val="F8FAFC"/>
                </a:solidFill>
                <a:latin typeface="Segoe UI"/>
              </a:defRPr>
            </a:pPr>
            <a:r>
              <a:t>• Tamper-Proof Binding:</a:t>
            </a:r>
          </a:p>
          <a:p>
            <a:pPr>
              <a:spcAft>
                <a:spcPts val="600"/>
              </a:spcAft>
              <a:defRPr sz="1000">
                <a:solidFill>
                  <a:srgbClr val="94A3B8"/>
                </a:solidFill>
                <a:latin typeface="Segoe UI"/>
              </a:defRPr>
            </a:pPr>
            <a:r>
              <a:t>Public keys are embedded directly in the DID URI. Identity spoofing is prevented because the public key defines the identity itself.</a:t>
            </a:r>
          </a:p>
          <a:p>
            <a:pPr>
              <a:defRPr sz="1050" b="1">
                <a:solidFill>
                  <a:srgbClr val="F8FAFC"/>
                </a:solidFill>
                <a:latin typeface="Segoe UI"/>
              </a:defRPr>
            </a:pPr>
            <a:r>
              <a:t>• Mutual Authentication:</a:t>
            </a:r>
          </a:p>
          <a:p>
            <a:pPr>
              <a:spcAft>
                <a:spcPts val="600"/>
              </a:spcAft>
              <a:defRPr sz="1000">
                <a:solidFill>
                  <a:srgbClr val="94A3B8"/>
                </a:solidFill>
                <a:latin typeface="Segoe UI"/>
              </a:defRPr>
            </a:pPr>
            <a:r>
              <a:t>Used during TLS session handshake: peers mutually sign challenge nonces to prove possession of the private key corresponding to their DID.</a:t>
            </a:r>
          </a:p>
        </p:txBody>
      </p:sp>
      <p:sp>
        <p:nvSpPr>
          <p:cNvPr id="9" name="Rounded Rectangle 8"/>
          <p:cNvSpPr/>
          <p:nvPr/>
        </p:nvSpPr>
        <p:spPr>
          <a:xfrm>
            <a:off x="6217920" y="1463040"/>
            <a:ext cx="5212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600200"/>
            <a:ext cx="4882896" cy="365760"/>
          </a:xfrm>
          <a:prstGeom prst="rect">
            <a:avLst/>
          </a:prstGeom>
          <a:noFill/>
        </p:spPr>
        <p:txBody>
          <a:bodyPr wrap="square">
            <a:spAutoFit/>
          </a:bodyPr>
          <a:lstStyle/>
          <a:p>
            <a:pPr>
              <a:defRPr sz="1250" b="1">
                <a:solidFill>
                  <a:srgbClr val="38BDF8"/>
                </a:solidFill>
                <a:latin typeface="Segoe UI"/>
              </a:defRPr>
            </a:pPr>
            <a:r>
              <a:t>Non-Interactive Proof-of-Work (PoW)</a:t>
            </a:r>
          </a:p>
        </p:txBody>
      </p:sp>
      <p:sp>
        <p:nvSpPr>
          <p:cNvPr id="11" name="TextBox 10"/>
          <p:cNvSpPr txBox="1"/>
          <p:nvPr/>
        </p:nvSpPr>
        <p:spPr>
          <a:xfrm>
            <a:off x="6355080" y="2011680"/>
            <a:ext cx="4937760" cy="3931920"/>
          </a:xfrm>
          <a:prstGeom prst="rect">
            <a:avLst/>
          </a:prstGeom>
          <a:noFill/>
        </p:spPr>
        <p:txBody>
          <a:bodyPr wrap="square">
            <a:spAutoFit/>
          </a:bodyPr>
          <a:lstStyle/>
          <a:p>
            <a:pPr>
              <a:defRPr sz="1100" b="1">
                <a:solidFill>
                  <a:srgbClr val="38BDF8"/>
                </a:solidFill>
                <a:latin typeface="Segoe UI"/>
              </a:defRPr>
            </a:pPr>
            <a:r>
              <a:t>• Cryptographic Challenge Condition:</a:t>
            </a:r>
          </a:p>
          <a:p>
            <a:pPr>
              <a:spcAft>
                <a:spcPts val="800"/>
              </a:spcAft>
              <a:defRPr sz="1000">
                <a:solidFill>
                  <a:srgbClr val="F59E0B"/>
                </a:solidFill>
                <a:latin typeface="Consolas"/>
              </a:defRPr>
            </a:pPr>
            <a:r>
              <a:t>SHA-256( DID || nonce ) &lt; 2^(256 - D)</a:t>
            </a:r>
          </a:p>
          <a:p>
            <a:pPr>
              <a:defRPr sz="1050" b="1">
                <a:solidFill>
                  <a:srgbClr val="F8FAFC"/>
                </a:solidFill>
                <a:latin typeface="Segoe UI"/>
              </a:defRPr>
            </a:pPr>
            <a:r>
              <a:t>• Baseline Difficulty:</a:t>
            </a:r>
          </a:p>
          <a:p>
            <a:pPr>
              <a:spcAft>
                <a:spcPts val="600"/>
              </a:spcAft>
              <a:defRPr sz="1000">
                <a:solidFill>
                  <a:srgbClr val="94A3B8"/>
                </a:solidFill>
                <a:latin typeface="Segoe UI"/>
              </a:defRPr>
            </a:pPr>
            <a:r>
              <a:t>Configured to D = 16 bits. Requires an expected 2^16 = 65,536 hash operations (~15-50 ms on standard commodity CPUs).</a:t>
            </a:r>
          </a:p>
          <a:p>
            <a:pPr>
              <a:defRPr sz="1050" b="1">
                <a:solidFill>
                  <a:srgbClr val="F8FAFC"/>
                </a:solidFill>
                <a:latin typeface="Segoe UI"/>
              </a:defRPr>
            </a:pPr>
            <a:r>
              <a:t>• Asymmetric Verification:</a:t>
            </a:r>
          </a:p>
          <a:p>
            <a:pPr>
              <a:spcAft>
                <a:spcPts val="600"/>
              </a:spcAft>
              <a:defRPr sz="1000">
                <a:solidFill>
                  <a:srgbClr val="94A3B8"/>
                </a:solidFill>
                <a:latin typeface="Segoe UI"/>
              </a:defRPr>
            </a:pPr>
            <a:r>
              <a:t>Solver must perform O(2^D) brute-force hashing operations; verifying peers validate in O(1) time via a single SHA-256 hash calculation.</a:t>
            </a:r>
          </a:p>
          <a:p>
            <a:pPr>
              <a:defRPr sz="1050" b="1">
                <a:solidFill>
                  <a:srgbClr val="F8FAFC"/>
                </a:solidFill>
                <a:latin typeface="Segoe UI"/>
              </a:defRPr>
            </a:pPr>
            <a:r>
              <a:t>• Economic Sybil Throttling:</a:t>
            </a:r>
          </a:p>
          <a:p>
            <a:pPr>
              <a:spcAft>
                <a:spcPts val="600"/>
              </a:spcAft>
              <a:defRPr sz="1000">
                <a:solidFill>
                  <a:srgbClr val="94A3B8"/>
                </a:solidFill>
                <a:latin typeface="Segoe UI"/>
              </a:defRPr>
            </a:pPr>
            <a:r>
              <a:t>Generating 1,000 Sybil identities imposes ~65.5 million hash operations, eliminating instantaneous zero-cost pseudonym swarms.</a:t>
            </a:r>
          </a:p>
          <a:p>
            <a:pPr>
              <a:defRPr sz="1050" b="1">
                <a:solidFill>
                  <a:srgbClr val="F8FAFC"/>
                </a:solidFill>
                <a:latin typeface="Segoe UI"/>
              </a:defRPr>
            </a:pPr>
            <a:r>
              <a:t>• Important Qualification:</a:t>
            </a:r>
          </a:p>
          <a:p>
            <a:pPr>
              <a:spcAft>
                <a:spcPts val="600"/>
              </a:spcAft>
              <a:defRPr sz="1000">
                <a:solidFill>
                  <a:srgbClr val="94A3B8"/>
                </a:solidFill>
                <a:latin typeface="Segoe UI"/>
              </a:defRPr>
            </a:pPr>
            <a:r>
              <a:t>PoW provides an economic cost barrier, NOT an absolute Sybil defense. Well-funded attackers or GPU clusters can surmount static difficulty barriers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Layer 2: Web-of-Trust Mesh PKI &amp; Bounded Verification</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7 of 15</a:t>
            </a:r>
          </a:p>
        </p:txBody>
      </p:sp>
      <p:sp>
        <p:nvSpPr>
          <p:cNvPr id="6" name="Rounded Rectangle 5"/>
          <p:cNvSpPr/>
          <p:nvPr/>
        </p:nvSpPr>
        <p:spPr>
          <a:xfrm>
            <a:off x="731520" y="1463040"/>
            <a:ext cx="5212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882896" cy="365760"/>
          </a:xfrm>
          <a:prstGeom prst="rect">
            <a:avLst/>
          </a:prstGeom>
          <a:noFill/>
        </p:spPr>
        <p:txBody>
          <a:bodyPr wrap="square">
            <a:spAutoFit/>
          </a:bodyPr>
          <a:lstStyle/>
          <a:p>
            <a:pPr>
              <a:defRPr sz="1250" b="1">
                <a:solidFill>
                  <a:srgbClr val="38BDF8"/>
                </a:solidFill>
                <a:latin typeface="Segoe UI"/>
              </a:defRPr>
            </a:pPr>
            <a:r>
              <a:t>PeerCertificate Architecture</a:t>
            </a:r>
          </a:p>
        </p:txBody>
      </p:sp>
      <p:sp>
        <p:nvSpPr>
          <p:cNvPr id="8" name="TextBox 7"/>
          <p:cNvSpPr txBox="1"/>
          <p:nvPr/>
        </p:nvSpPr>
        <p:spPr>
          <a:xfrm>
            <a:off x="868680" y="2011680"/>
            <a:ext cx="4937760" cy="3931920"/>
          </a:xfrm>
          <a:prstGeom prst="rect">
            <a:avLst/>
          </a:prstGeom>
          <a:noFill/>
        </p:spPr>
        <p:txBody>
          <a:bodyPr wrap="square">
            <a:spAutoFit/>
          </a:bodyPr>
          <a:lstStyle/>
          <a:p>
            <a:pPr>
              <a:defRPr sz="1100" b="1">
                <a:solidFill>
                  <a:srgbClr val="38BDF8"/>
                </a:solidFill>
                <a:latin typeface="Segoe UI"/>
              </a:defRPr>
            </a:pPr>
            <a:r>
              <a:t>• Core Data Structure:</a:t>
            </a:r>
          </a:p>
          <a:p>
            <a:pPr>
              <a:spcAft>
                <a:spcPts val="800"/>
              </a:spcAft>
              <a:defRPr sz="950">
                <a:solidFill>
                  <a:srgbClr val="10B981"/>
                </a:solidFill>
                <a:latin typeface="Consolas"/>
              </a:defRPr>
            </a:pPr>
            <a:r>
              <a:t>struct PeerCertificate {</a:t>
            </a:r>
            <a:br/>
            <a:r>
              <a:t>  issuer_did:  DIDString,</a:t>
            </a:r>
            <a:br/>
            <a:r>
              <a:t>  subject_did: DIDString,</a:t>
            </a:r>
            <a:br/>
            <a:r>
              <a:t>  subject_pubkey: Ed25519PublicKey,</a:t>
            </a:r>
            <a:br/>
            <a:r>
              <a:t>  valid_from:  Timestamp,</a:t>
            </a:r>
            <a:br/>
            <a:r>
              <a:t>  valid_to:    Timestamp,  // 30-day default</a:t>
            </a:r>
            <a:br/>
            <a:r>
              <a:t>  signature:   Ed25519Signature</a:t>
            </a:r>
            <a:br/>
            <a:r>
              <a:t>}</a:t>
            </a:r>
          </a:p>
          <a:p>
            <a:pPr>
              <a:defRPr sz="1050" b="1">
                <a:solidFill>
                  <a:srgbClr val="F8FAFC"/>
                </a:solidFill>
                <a:latin typeface="Segoe UI"/>
              </a:defRPr>
            </a:pPr>
            <a:r>
              <a:t>• Decentralized Cross-Signing:</a:t>
            </a:r>
          </a:p>
          <a:p>
            <a:pPr>
              <a:spcAft>
                <a:spcPts val="600"/>
              </a:spcAft>
              <a:defRPr sz="1000">
                <a:solidFill>
                  <a:srgbClr val="94A3B8"/>
                </a:solidFill>
                <a:latin typeface="Segoe UI"/>
              </a:defRPr>
            </a:pPr>
            <a:r>
              <a:t>Peers cross-sign certificates after successful verified transactions or mutual verification handshakes.</a:t>
            </a:r>
          </a:p>
          <a:p>
            <a:pPr>
              <a:defRPr sz="1050" b="1">
                <a:solidFill>
                  <a:srgbClr val="F8FAFC"/>
                </a:solidFill>
                <a:latin typeface="Segoe UI"/>
              </a:defRPr>
            </a:pPr>
            <a:r>
              <a:t>• Temporal Expiration:</a:t>
            </a:r>
          </a:p>
          <a:p>
            <a:pPr>
              <a:spcAft>
                <a:spcPts val="600"/>
              </a:spcAft>
              <a:defRPr sz="1000">
                <a:solidFill>
                  <a:srgbClr val="94A3B8"/>
                </a:solidFill>
                <a:latin typeface="Segoe UI"/>
              </a:defRPr>
            </a:pPr>
            <a:r>
              <a:t>Mandatory validity window (default 30 days) prevents stale key retention and forces periodic re-evaluation [7].</a:t>
            </a:r>
          </a:p>
        </p:txBody>
      </p:sp>
      <p:sp>
        <p:nvSpPr>
          <p:cNvPr id="9" name="Rounded Rectangle 8"/>
          <p:cNvSpPr/>
          <p:nvPr/>
        </p:nvSpPr>
        <p:spPr>
          <a:xfrm>
            <a:off x="6217920" y="1463040"/>
            <a:ext cx="5212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600200"/>
            <a:ext cx="4882896" cy="365760"/>
          </a:xfrm>
          <a:prstGeom prst="rect">
            <a:avLst/>
          </a:prstGeom>
          <a:noFill/>
        </p:spPr>
        <p:txBody>
          <a:bodyPr wrap="square">
            <a:spAutoFit/>
          </a:bodyPr>
          <a:lstStyle/>
          <a:p>
            <a:pPr>
              <a:defRPr sz="1250" b="1">
                <a:solidFill>
                  <a:srgbClr val="38BDF8"/>
                </a:solidFill>
                <a:latin typeface="Segoe UI"/>
              </a:defRPr>
            </a:pPr>
            <a:r>
              <a:t>Trust Mesh &amp; Path Search Pipeline</a:t>
            </a:r>
          </a:p>
        </p:txBody>
      </p:sp>
      <p:sp>
        <p:nvSpPr>
          <p:cNvPr id="11" name="TextBox 10"/>
          <p:cNvSpPr txBox="1"/>
          <p:nvPr/>
        </p:nvSpPr>
        <p:spPr>
          <a:xfrm>
            <a:off x="6355080" y="2011680"/>
            <a:ext cx="4937760" cy="3931920"/>
          </a:xfrm>
          <a:prstGeom prst="rect">
            <a:avLst/>
          </a:prstGeom>
          <a:noFill/>
        </p:spPr>
        <p:txBody>
          <a:bodyPr wrap="square">
            <a:spAutoFit/>
          </a:bodyPr>
          <a:lstStyle/>
          <a:p>
            <a:pPr>
              <a:defRPr sz="1100" b="1">
                <a:solidFill>
                  <a:srgbClr val="38BDF8"/>
                </a:solidFill>
                <a:latin typeface="Segoe UI"/>
              </a:defRPr>
            </a:pPr>
            <a:r>
              <a:t>• Bounded Breadth-First Trust Search:</a:t>
            </a:r>
          </a:p>
          <a:p>
            <a:pPr>
              <a:defRPr sz="1050" b="1">
                <a:solidFill>
                  <a:srgbClr val="F8FAFC"/>
                </a:solidFill>
                <a:latin typeface="Segoe UI"/>
              </a:defRPr>
            </a:pPr>
            <a:r>
              <a:t>• Bounded Path Depth (d_max &lt;= 3):</a:t>
            </a:r>
          </a:p>
          <a:p>
            <a:pPr>
              <a:spcAft>
                <a:spcPts val="600"/>
              </a:spcAft>
              <a:defRPr sz="1000">
                <a:solidFill>
                  <a:srgbClr val="94A3B8"/>
                </a:solidFill>
                <a:latin typeface="Segoe UI"/>
              </a:defRPr>
            </a:pPr>
            <a:r>
              <a:t>Graph traversal is strictly truncated at 3 hops. Prevents exponential search space explosion in large P2P meshes.</a:t>
            </a:r>
          </a:p>
          <a:p>
            <a:pPr>
              <a:defRPr sz="1050" b="1">
                <a:solidFill>
                  <a:srgbClr val="F8FAFC"/>
                </a:solidFill>
                <a:latin typeface="Segoe UI"/>
              </a:defRPr>
            </a:pPr>
            <a:r>
              <a:t>• Exponential Confidence Decay:</a:t>
            </a:r>
          </a:p>
          <a:p>
            <a:pPr>
              <a:spcAft>
                <a:spcPts val="600"/>
              </a:spcAft>
              <a:defRPr sz="1000">
                <a:solidFill>
                  <a:srgbClr val="94A3B8"/>
                </a:solidFill>
                <a:latin typeface="Segoe UI"/>
              </a:defRPr>
            </a:pPr>
            <a:r>
              <a:t>Path confidence decays exponentially: Conf(path) = Product_{i=1}^k delta, where default delta = 0.5 per hop.</a:t>
            </a:r>
          </a:p>
          <a:p>
            <a:pPr>
              <a:defRPr sz="1050" b="1">
                <a:solidFill>
                  <a:srgbClr val="F8FAFC"/>
                </a:solidFill>
                <a:latin typeface="Segoe UI"/>
              </a:defRPr>
            </a:pPr>
            <a:r>
              <a:t>• Local CRL Revocation Cache:</a:t>
            </a:r>
          </a:p>
          <a:p>
            <a:pPr>
              <a:spcAft>
                <a:spcPts val="600"/>
              </a:spcAft>
              <a:defRPr sz="1000">
                <a:solidFill>
                  <a:srgbClr val="94A3B8"/>
                </a:solidFill>
                <a:latin typeface="Segoe UI"/>
              </a:defRPr>
            </a:pPr>
            <a:r>
              <a:t>Before certifying any edge, the verifier checks its local Certificate Revocation List (CRL) for active revocations.</a:t>
            </a:r>
          </a:p>
          <a:p>
            <a:pPr>
              <a:defRPr sz="1050" b="1">
                <a:solidFill>
                  <a:srgbClr val="F8FAFC"/>
                </a:solidFill>
                <a:latin typeface="Segoe UI"/>
              </a:defRPr>
            </a:pPr>
            <a:r>
              <a:t>• Trust vs. Recommendation:</a:t>
            </a:r>
          </a:p>
          <a:p>
            <a:pPr>
              <a:spcAft>
                <a:spcPts val="600"/>
              </a:spcAft>
              <a:defRPr sz="1000">
                <a:solidFill>
                  <a:srgbClr val="94A3B8"/>
                </a:solidFill>
                <a:latin typeface="Segoe UI"/>
              </a:defRPr>
            </a:pPr>
            <a:r>
              <a:t>A Web-of-Trust path confirms public key binding authenticity, NOT operational reliability. Operational trust is computed by Layer 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Layer 3: Evidence-Weighted EigenTrust v1.8 (EW-EigenTrust)</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8 of 15</a:t>
            </a:r>
          </a:p>
        </p:txBody>
      </p:sp>
      <p:sp>
        <p:nvSpPr>
          <p:cNvPr id="6" name="Rounded Rectangle 5"/>
          <p:cNvSpPr/>
          <p:nvPr/>
        </p:nvSpPr>
        <p:spPr>
          <a:xfrm>
            <a:off x="731520" y="1463040"/>
            <a:ext cx="5212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882896" cy="365760"/>
          </a:xfrm>
          <a:prstGeom prst="rect">
            <a:avLst/>
          </a:prstGeom>
          <a:noFill/>
        </p:spPr>
        <p:txBody>
          <a:bodyPr wrap="square">
            <a:spAutoFit/>
          </a:bodyPr>
          <a:lstStyle/>
          <a:p>
            <a:pPr>
              <a:defRPr sz="1250" b="1">
                <a:solidFill>
                  <a:srgbClr val="38BDF8"/>
                </a:solidFill>
                <a:latin typeface="Segoe UI"/>
              </a:defRPr>
            </a:pPr>
            <a:r>
              <a:t>Evidence Matrix Formulation</a:t>
            </a:r>
          </a:p>
        </p:txBody>
      </p:sp>
      <p:sp>
        <p:nvSpPr>
          <p:cNvPr id="8" name="TextBox 7"/>
          <p:cNvSpPr txBox="1"/>
          <p:nvPr/>
        </p:nvSpPr>
        <p:spPr>
          <a:xfrm>
            <a:off x="868680" y="2011680"/>
            <a:ext cx="4937760" cy="3931920"/>
          </a:xfrm>
          <a:prstGeom prst="rect">
            <a:avLst/>
          </a:prstGeom>
          <a:noFill/>
        </p:spPr>
        <p:txBody>
          <a:bodyPr wrap="square">
            <a:spAutoFit/>
          </a:bodyPr>
          <a:lstStyle/>
          <a:p>
            <a:pPr>
              <a:defRPr sz="1100" b="1">
                <a:solidFill>
                  <a:srgbClr val="38BDF8"/>
                </a:solidFill>
                <a:latin typeface="Segoe UI"/>
              </a:defRPr>
            </a:pPr>
            <a:r>
              <a:t>• Raw Score Formulation S_ij:</a:t>
            </a:r>
          </a:p>
          <a:p>
            <a:pPr>
              <a:spcAft>
                <a:spcPts val="800"/>
              </a:spcAft>
              <a:defRPr sz="950">
                <a:solidFill>
                  <a:srgbClr val="F59E0B"/>
                </a:solidFill>
                <a:latin typeface="Consolas"/>
              </a:defRPr>
            </a:pPr>
            <a:r>
              <a:t>S_ij = max(0, w_pos * R_ij^(pos) - w_dispute * D_ij - w_neg * R_ij^(neg))</a:t>
            </a:r>
          </a:p>
          <a:p>
            <a:pPr>
              <a:defRPr sz="1050" b="1">
                <a:solidFill>
                  <a:srgbClr val="F8FAFC"/>
                </a:solidFill>
                <a:latin typeface="Segoe UI"/>
              </a:defRPr>
            </a:pPr>
            <a:r>
              <a:t>• Evidence Weights:</a:t>
            </a:r>
          </a:p>
          <a:p>
            <a:pPr>
              <a:spcAft>
                <a:spcPts val="600"/>
              </a:spcAft>
              <a:defRPr sz="1000">
                <a:solidFill>
                  <a:srgbClr val="94A3B8"/>
                </a:solidFill>
                <a:latin typeface="Segoe UI"/>
              </a:defRPr>
            </a:pPr>
            <a:r>
              <a:t>w_pos = 1.0 (bilateral delivery receipt)</a:t>
            </a:r>
            <a:br/>
            <a:r>
              <a:t>w_neg = 2.0 (timeout or delivery failure)</a:t>
            </a:r>
            <a:br/>
            <a:r>
              <a:t>w_dispute = 5.0 (substantiated Merkle corruption proof)</a:t>
            </a:r>
          </a:p>
          <a:p>
            <a:pPr>
              <a:defRPr sz="1050" b="1">
                <a:solidFill>
                  <a:srgbClr val="F8FAFC"/>
                </a:solidFill>
                <a:latin typeface="Segoe UI"/>
              </a:defRPr>
            </a:pPr>
            <a:r>
              <a:t>• Asymmetric Dispute Penalty:</a:t>
            </a:r>
          </a:p>
          <a:p>
            <a:pPr>
              <a:spcAft>
                <a:spcPts val="600"/>
              </a:spcAft>
              <a:defRPr sz="1000">
                <a:solidFill>
                  <a:srgbClr val="94A3B8"/>
                </a:solidFill>
                <a:latin typeface="Segoe UI"/>
              </a:defRPr>
            </a:pPr>
            <a:r>
              <a:t>Disputes are penalized at 5x the weight of positive transactions, making malicious attacks economically expensive to sustain.</a:t>
            </a:r>
          </a:p>
          <a:p>
            <a:pPr>
              <a:defRPr sz="1050" b="1">
                <a:solidFill>
                  <a:srgbClr val="F8FAFC"/>
                </a:solidFill>
                <a:latin typeface="Segoe UI"/>
              </a:defRPr>
            </a:pPr>
            <a:r>
              <a:t>• Row Normalization:</a:t>
            </a:r>
          </a:p>
          <a:p>
            <a:pPr>
              <a:spcAft>
                <a:spcPts val="600"/>
              </a:spcAft>
              <a:defRPr sz="1000">
                <a:solidFill>
                  <a:srgbClr val="94A3B8"/>
                </a:solidFill>
                <a:latin typeface="Segoe UI"/>
              </a:defRPr>
            </a:pPr>
            <a:r>
              <a:t>C_ij = S_ij / Sum_k S_ik if Sum_k S_ik &gt; 0.</a:t>
            </a:r>
            <a:br/>
            <a:r>
              <a:t>Fallback: If peer i has zero evidence (Sum_k S_ik = 0), row i defaults to restart vector p_j.</a:t>
            </a:r>
          </a:p>
        </p:txBody>
      </p:sp>
      <p:sp>
        <p:nvSpPr>
          <p:cNvPr id="9" name="Rounded Rectangle 8"/>
          <p:cNvSpPr/>
          <p:nvPr/>
        </p:nvSpPr>
        <p:spPr>
          <a:xfrm>
            <a:off x="6217920" y="1463040"/>
            <a:ext cx="5212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600200"/>
            <a:ext cx="4882896" cy="365760"/>
          </a:xfrm>
          <a:prstGeom prst="rect">
            <a:avLst/>
          </a:prstGeom>
          <a:noFill/>
        </p:spPr>
        <p:txBody>
          <a:bodyPr wrap="square">
            <a:spAutoFit/>
          </a:bodyPr>
          <a:lstStyle/>
          <a:p>
            <a:pPr>
              <a:defRPr sz="1250" b="1">
                <a:solidFill>
                  <a:srgbClr val="38BDF8"/>
                </a:solidFill>
                <a:latin typeface="Segoe UI"/>
              </a:defRPr>
            </a:pPr>
            <a:r>
              <a:t>Spectral Power Iteration</a:t>
            </a:r>
          </a:p>
        </p:txBody>
      </p:sp>
      <p:sp>
        <p:nvSpPr>
          <p:cNvPr id="11" name="TextBox 10"/>
          <p:cNvSpPr txBox="1"/>
          <p:nvPr/>
        </p:nvSpPr>
        <p:spPr>
          <a:xfrm>
            <a:off x="6355080" y="2011680"/>
            <a:ext cx="4937760" cy="3931920"/>
          </a:xfrm>
          <a:prstGeom prst="rect">
            <a:avLst/>
          </a:prstGeom>
          <a:noFill/>
        </p:spPr>
        <p:txBody>
          <a:bodyPr wrap="square">
            <a:spAutoFit/>
          </a:bodyPr>
          <a:lstStyle/>
          <a:p>
            <a:pPr>
              <a:defRPr sz="1100" b="1">
                <a:solidFill>
                  <a:srgbClr val="38BDF8"/>
                </a:solidFill>
                <a:latin typeface="Segoe UI"/>
              </a:defRPr>
            </a:pPr>
            <a:r>
              <a:t>• Damped Markov Iteration:</a:t>
            </a:r>
          </a:p>
          <a:p>
            <a:pPr>
              <a:spcAft>
                <a:spcPts val="800"/>
              </a:spcAft>
              <a:defRPr sz="1000">
                <a:solidFill>
                  <a:srgbClr val="10B981"/>
                </a:solidFill>
                <a:latin typeface="Consolas"/>
              </a:defRPr>
            </a:pPr>
            <a:r>
              <a:t>t^(k+1) = (1 - alpha) * (C')^T * t^(k) + alpha * p</a:t>
            </a:r>
          </a:p>
          <a:p>
            <a:pPr>
              <a:defRPr sz="1050" b="1">
                <a:solidFill>
                  <a:srgbClr val="F8FAFC"/>
                </a:solidFill>
                <a:latin typeface="Segoe UI"/>
              </a:defRPr>
            </a:pPr>
            <a:r>
              <a:t>• Damping Factor (alpha = 0.15):</a:t>
            </a:r>
          </a:p>
          <a:p>
            <a:pPr>
              <a:spcAft>
                <a:spcPts val="600"/>
              </a:spcAft>
              <a:defRPr sz="1000">
                <a:solidFill>
                  <a:srgbClr val="94A3B8"/>
                </a:solidFill>
                <a:latin typeface="Segoe UI"/>
              </a:defRPr>
            </a:pPr>
            <a:r>
              <a:t>Guarantees ergodicity and unique stationary distribution via the Perron-Frobenius theorem [3].</a:t>
            </a:r>
          </a:p>
          <a:p>
            <a:pPr>
              <a:defRPr sz="1050" b="1">
                <a:solidFill>
                  <a:srgbClr val="F8FAFC"/>
                </a:solidFill>
                <a:latin typeface="Segoe UI"/>
              </a:defRPr>
            </a:pPr>
            <a:r>
              <a:t>• Pre-Trusted Teleportation Vector p:</a:t>
            </a:r>
          </a:p>
          <a:p>
            <a:pPr>
              <a:spcAft>
                <a:spcPts val="600"/>
              </a:spcAft>
              <a:defRPr sz="1000">
                <a:solidFill>
                  <a:srgbClr val="94A3B8"/>
                </a:solidFill>
                <a:latin typeface="Segoe UI"/>
              </a:defRPr>
            </a:pPr>
            <a:r>
              <a:t>Concentrates probability mass on verified bootstrap anchors. Prevents disconnected sink traps from accumulating arbitrary reputation.</a:t>
            </a:r>
          </a:p>
          <a:p>
            <a:pPr>
              <a:defRPr sz="1050" b="1">
                <a:solidFill>
                  <a:srgbClr val="F8FAFC"/>
                </a:solidFill>
                <a:latin typeface="Segoe UI"/>
              </a:defRPr>
            </a:pPr>
            <a:r>
              <a:t>• Convergence Criterion:</a:t>
            </a:r>
          </a:p>
          <a:p>
            <a:pPr>
              <a:spcAft>
                <a:spcPts val="600"/>
              </a:spcAft>
              <a:defRPr sz="1000">
                <a:solidFill>
                  <a:srgbClr val="94A3B8"/>
                </a:solidFill>
                <a:latin typeface="Segoe UI"/>
              </a:defRPr>
            </a:pPr>
            <a:r>
              <a:t>Terminates when || t^(k+1) - t^(k) ||_1 &lt; epsilon = 10^(-6) (typically 12-25 iterations).</a:t>
            </a:r>
          </a:p>
          <a:p>
            <a:pPr>
              <a:defRPr sz="1050" b="1">
                <a:solidFill>
                  <a:srgbClr val="F8FAFC"/>
                </a:solidFill>
                <a:latin typeface="Segoe UI"/>
              </a:defRPr>
            </a:pPr>
            <a:r>
              <a:t>• Mathematical Determinism:</a:t>
            </a:r>
          </a:p>
          <a:p>
            <a:pPr>
              <a:spcAft>
                <a:spcPts val="600"/>
              </a:spcAft>
              <a:defRPr sz="1000">
                <a:solidFill>
                  <a:srgbClr val="94A3B8"/>
                </a:solidFill>
                <a:latin typeface="Segoe UI"/>
              </a:defRPr>
            </a:pPr>
            <a:r>
              <a:t>Global trust vector t represents the stationary probability distribution of an ergodic random walk on the evidence graph.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Layer 4: Revocation &amp; Shamir Threshold Key Recovery</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9 of 15</a:t>
            </a:r>
          </a:p>
        </p:txBody>
      </p:sp>
      <p:sp>
        <p:nvSpPr>
          <p:cNvPr id="6" name="Rounded Rectangle 5"/>
          <p:cNvSpPr/>
          <p:nvPr/>
        </p:nvSpPr>
        <p:spPr>
          <a:xfrm>
            <a:off x="731520" y="1463040"/>
            <a:ext cx="5212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4882896" cy="365760"/>
          </a:xfrm>
          <a:prstGeom prst="rect">
            <a:avLst/>
          </a:prstGeom>
          <a:noFill/>
        </p:spPr>
        <p:txBody>
          <a:bodyPr wrap="square">
            <a:spAutoFit/>
          </a:bodyPr>
          <a:lstStyle/>
          <a:p>
            <a:pPr>
              <a:defRPr sz="1250" b="1">
                <a:solidFill>
                  <a:srgbClr val="38BDF8"/>
                </a:solidFill>
                <a:latin typeface="Segoe UI"/>
              </a:defRPr>
            </a:pPr>
            <a:r>
              <a:t>Deterministic Certificate Revocation</a:t>
            </a:r>
          </a:p>
        </p:txBody>
      </p:sp>
      <p:sp>
        <p:nvSpPr>
          <p:cNvPr id="8" name="TextBox 7"/>
          <p:cNvSpPr txBox="1"/>
          <p:nvPr/>
        </p:nvSpPr>
        <p:spPr>
          <a:xfrm>
            <a:off x="868680" y="2011680"/>
            <a:ext cx="4937760" cy="3931920"/>
          </a:xfrm>
          <a:prstGeom prst="rect">
            <a:avLst/>
          </a:prstGeom>
          <a:noFill/>
        </p:spPr>
        <p:txBody>
          <a:bodyPr wrap="square">
            <a:spAutoFit/>
          </a:bodyPr>
          <a:lstStyle/>
          <a:p>
            <a:pPr>
              <a:defRPr sz="1100" b="1">
                <a:solidFill>
                  <a:srgbClr val="38BDF8"/>
                </a:solidFill>
                <a:latin typeface="Segoe UI"/>
              </a:defRPr>
            </a:pPr>
            <a:r>
              <a:t>• Revocation Trigger &amp; Propagation:</a:t>
            </a:r>
          </a:p>
          <a:p>
            <a:pPr>
              <a:defRPr sz="1050" b="1">
                <a:solidFill>
                  <a:srgbClr val="F8FAFC"/>
                </a:solidFill>
                <a:latin typeface="Segoe UI"/>
              </a:defRPr>
            </a:pPr>
            <a:r>
              <a:t>• Two Revocation Triggers:</a:t>
            </a:r>
          </a:p>
          <a:p>
            <a:pPr>
              <a:spcAft>
                <a:spcPts val="600"/>
              </a:spcAft>
              <a:defRPr sz="1000">
                <a:solidFill>
                  <a:srgbClr val="94A3B8"/>
                </a:solidFill>
                <a:latin typeface="Segoe UI"/>
              </a:defRPr>
            </a:pPr>
            <a:r>
              <a:t>1. Key Compromise: Peer signs a self-revocation announcement.</a:t>
            </a:r>
            <a:br/>
            <a:r>
              <a:t>2. Proven Malfeasance: Peer is convicted via Merkle contradiction proof of distributing corrupted data.</a:t>
            </a:r>
          </a:p>
          <a:p>
            <a:pPr>
              <a:defRPr sz="1050" b="1">
                <a:solidFill>
                  <a:srgbClr val="F8FAFC"/>
                </a:solidFill>
                <a:latin typeface="Segoe UI"/>
              </a:defRPr>
            </a:pPr>
            <a:r>
              <a:t>• Gossip-Based CRL Dissemination:</a:t>
            </a:r>
          </a:p>
          <a:p>
            <a:pPr>
              <a:spcAft>
                <a:spcPts val="600"/>
              </a:spcAft>
              <a:defRPr sz="1000">
                <a:solidFill>
                  <a:srgbClr val="94A3B8"/>
                </a:solidFill>
                <a:latin typeface="Segoe UI"/>
              </a:defRPr>
            </a:pPr>
            <a:r>
              <a:t>Revocation messages are broadcast across the P2P overlay via epidemic gossip. Peering nodes verify the signature before caching in their local CRL.</a:t>
            </a:r>
          </a:p>
          <a:p>
            <a:pPr>
              <a:defRPr sz="1050" b="1">
                <a:solidFill>
                  <a:srgbClr val="F8FAFC"/>
                </a:solidFill>
                <a:latin typeface="Segoe UI"/>
              </a:defRPr>
            </a:pPr>
            <a:r>
              <a:t>• Immediate Trust Isolation:</a:t>
            </a:r>
          </a:p>
          <a:p>
            <a:pPr>
              <a:spcAft>
                <a:spcPts val="600"/>
              </a:spcAft>
              <a:defRPr sz="1000">
                <a:solidFill>
                  <a:srgbClr val="94A3B8"/>
                </a:solidFill>
                <a:latin typeface="Segoe UI"/>
              </a:defRPr>
            </a:pPr>
            <a:r>
              <a:t>Once revoked, all incoming and outgoing WoT edges are pruned, and the node's trust share collapses to the zero baseline.</a:t>
            </a:r>
          </a:p>
          <a:p>
            <a:pPr>
              <a:defRPr sz="1050" b="1">
                <a:solidFill>
                  <a:srgbClr val="F8FAFC"/>
                </a:solidFill>
                <a:latin typeface="Segoe UI"/>
              </a:defRPr>
            </a:pPr>
            <a:r>
              <a:t>• No Reliance on Central OCSP:</a:t>
            </a:r>
          </a:p>
          <a:p>
            <a:pPr>
              <a:spcAft>
                <a:spcPts val="600"/>
              </a:spcAft>
              <a:defRPr sz="1000">
                <a:solidFill>
                  <a:srgbClr val="94A3B8"/>
                </a:solidFill>
                <a:latin typeface="Segoe UI"/>
              </a:defRPr>
            </a:pPr>
            <a:r>
              <a:t>Unlike centralized PKI which depends on OCSP responders [7], our revocation verification is autonomous and local.</a:t>
            </a:r>
          </a:p>
        </p:txBody>
      </p:sp>
      <p:sp>
        <p:nvSpPr>
          <p:cNvPr id="9" name="Rounded Rectangle 8"/>
          <p:cNvSpPr/>
          <p:nvPr/>
        </p:nvSpPr>
        <p:spPr>
          <a:xfrm>
            <a:off x="6217920" y="1463040"/>
            <a:ext cx="5212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600200"/>
            <a:ext cx="4882896" cy="365760"/>
          </a:xfrm>
          <a:prstGeom prst="rect">
            <a:avLst/>
          </a:prstGeom>
          <a:noFill/>
        </p:spPr>
        <p:txBody>
          <a:bodyPr wrap="square">
            <a:spAutoFit/>
          </a:bodyPr>
          <a:lstStyle/>
          <a:p>
            <a:pPr>
              <a:defRPr sz="1250" b="1">
                <a:solidFill>
                  <a:srgbClr val="38BDF8"/>
                </a:solidFill>
                <a:latin typeface="Segoe UI"/>
              </a:defRPr>
            </a:pPr>
            <a:r>
              <a:t>Shamir (3, 5) Threshold Key Recovery</a:t>
            </a:r>
          </a:p>
        </p:txBody>
      </p:sp>
      <p:sp>
        <p:nvSpPr>
          <p:cNvPr id="11" name="TextBox 10"/>
          <p:cNvSpPr txBox="1"/>
          <p:nvPr/>
        </p:nvSpPr>
        <p:spPr>
          <a:xfrm>
            <a:off x="6355080" y="2011680"/>
            <a:ext cx="4937760" cy="3931920"/>
          </a:xfrm>
          <a:prstGeom prst="rect">
            <a:avLst/>
          </a:prstGeom>
          <a:noFill/>
        </p:spPr>
        <p:txBody>
          <a:bodyPr wrap="square">
            <a:spAutoFit/>
          </a:bodyPr>
          <a:lstStyle/>
          <a:p>
            <a:pPr>
              <a:defRPr sz="1100" b="1">
                <a:solidFill>
                  <a:srgbClr val="38BDF8"/>
                </a:solidFill>
                <a:latin typeface="Segoe UI"/>
              </a:defRPr>
            </a:pPr>
            <a:r>
              <a:t>• Secret Sharing Formulation:</a:t>
            </a:r>
          </a:p>
          <a:p>
            <a:pPr>
              <a:spcAft>
                <a:spcPts val="800"/>
              </a:spcAft>
              <a:defRPr sz="1000">
                <a:solidFill>
                  <a:srgbClr val="10B981"/>
                </a:solidFill>
                <a:latin typeface="Consolas"/>
              </a:defRPr>
            </a:pPr>
            <a:r>
              <a:t>f(x) = S + a_1*x + a_2*x^2 (mod p)</a:t>
            </a:r>
          </a:p>
          <a:p>
            <a:pPr>
              <a:defRPr sz="1050" b="1">
                <a:solidFill>
                  <a:srgbClr val="F8FAFC"/>
                </a:solidFill>
                <a:latin typeface="Segoe UI"/>
              </a:defRPr>
            </a:pPr>
            <a:r>
              <a:t>• Polynomial Threshold Sharing:</a:t>
            </a:r>
          </a:p>
          <a:p>
            <a:pPr>
              <a:spcAft>
                <a:spcPts val="600"/>
              </a:spcAft>
              <a:defRPr sz="1000">
                <a:solidFill>
                  <a:srgbClr val="94A3B8"/>
                </a:solidFill>
                <a:latin typeface="Segoe UI"/>
              </a:defRPr>
            </a:pPr>
            <a:r>
              <a:t>Master secret key S is split across n=5 trusted guardians using a degree k-1 = 2 polynomial over GF(2^8) [5].</a:t>
            </a:r>
          </a:p>
          <a:p>
            <a:pPr>
              <a:defRPr sz="1050" b="1">
                <a:solidFill>
                  <a:srgbClr val="F8FAFC"/>
                </a:solidFill>
                <a:latin typeface="Segoe UI"/>
              </a:defRPr>
            </a:pPr>
            <a:r>
              <a:t>• k=3 Reconstruction Quorum:</a:t>
            </a:r>
          </a:p>
          <a:p>
            <a:pPr>
              <a:spcAft>
                <a:spcPts val="600"/>
              </a:spcAft>
              <a:defRPr sz="1000">
                <a:solidFill>
                  <a:srgbClr val="94A3B8"/>
                </a:solidFill>
                <a:latin typeface="Segoe UI"/>
              </a:defRPr>
            </a:pPr>
            <a:r>
              <a:t>Any 3 valid guardian shares can reconstruct S via Lagrange interpolation; 2 or fewer shares reveal mathematically zero information.</a:t>
            </a:r>
          </a:p>
          <a:p>
            <a:pPr>
              <a:defRPr sz="1050" b="1">
                <a:solidFill>
                  <a:srgbClr val="F8FAFC"/>
                </a:solidFill>
                <a:latin typeface="Segoe UI"/>
              </a:defRPr>
            </a:pPr>
            <a:r>
              <a:t>• Social Recovery Semantics:</a:t>
            </a:r>
          </a:p>
          <a:p>
            <a:pPr>
              <a:spcAft>
                <a:spcPts val="600"/>
              </a:spcAft>
              <a:defRPr sz="1000">
                <a:solidFill>
                  <a:srgbClr val="94A3B8"/>
                </a:solidFill>
                <a:latin typeface="Segoe UI"/>
              </a:defRPr>
            </a:pPr>
            <a:r>
              <a:t>Guardians can be selected from highly trusted WoT neighbors or offline cold-storage nodes.</a:t>
            </a:r>
          </a:p>
          <a:p>
            <a:pPr>
              <a:defRPr sz="1050" b="1">
                <a:solidFill>
                  <a:srgbClr val="F8FAFC"/>
                </a:solidFill>
                <a:latin typeface="Segoe UI"/>
              </a:defRPr>
            </a:pPr>
            <a:r>
              <a:t>• Evaluation Qualification:</a:t>
            </a:r>
          </a:p>
          <a:p>
            <a:pPr>
              <a:spcAft>
                <a:spcPts val="600"/>
              </a:spcAft>
              <a:defRPr sz="1000">
                <a:solidFill>
                  <a:srgbClr val="94A3B8"/>
                </a:solidFill>
                <a:latin typeface="Segoe UI"/>
              </a:defRPr>
            </a:pPr>
            <a:r>
              <a:t>Shamir secret sharing is fully implemented and tested at the single-node cryptographic unit level; multi-party live network consensus was not simulated.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End-to-End File-Sharing &amp; Merkle Fault Attribution</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10 of 15</a:t>
            </a:r>
          </a:p>
        </p:txBody>
      </p:sp>
      <p:sp>
        <p:nvSpPr>
          <p:cNvPr id="6" name="Rounded Rectangle 5"/>
          <p:cNvSpPr/>
          <p:nvPr/>
        </p:nvSpPr>
        <p:spPr>
          <a:xfrm>
            <a:off x="731520" y="1463040"/>
            <a:ext cx="2057400" cy="11887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36192"/>
            <a:ext cx="1911095" cy="1051560"/>
          </a:xfrm>
          <a:prstGeom prst="rect">
            <a:avLst/>
          </a:prstGeom>
          <a:noFill/>
        </p:spPr>
        <p:txBody>
          <a:bodyPr wrap="square">
            <a:spAutoFit/>
          </a:bodyPr>
          <a:lstStyle/>
          <a:p>
            <a:pPr>
              <a:defRPr sz="1000" b="1">
                <a:solidFill>
                  <a:srgbClr val="F8FAFC"/>
                </a:solidFill>
                <a:latin typeface="Segoe UI"/>
              </a:defRPr>
            </a:pPr>
            <a:r>
              <a:t>1. Discovery &amp; Handshake</a:t>
            </a:r>
          </a:p>
          <a:p>
            <a:pPr>
              <a:defRPr sz="850">
                <a:solidFill>
                  <a:srgbClr val="94A3B8"/>
                </a:solidFill>
                <a:latin typeface="Segoe UI"/>
              </a:defRPr>
            </a:pPr>
            <a:r>
              <a:t>TLS 1.3 + mutual DID Ed25519 challenge</a:t>
            </a:r>
          </a:p>
        </p:txBody>
      </p:sp>
      <p:sp>
        <p:nvSpPr>
          <p:cNvPr id="8" name="Rounded Rectangle 7"/>
          <p:cNvSpPr/>
          <p:nvPr/>
        </p:nvSpPr>
        <p:spPr>
          <a:xfrm>
            <a:off x="2926080" y="1463040"/>
            <a:ext cx="2057400" cy="11887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99232" y="1536192"/>
            <a:ext cx="1911095" cy="1051560"/>
          </a:xfrm>
          <a:prstGeom prst="rect">
            <a:avLst/>
          </a:prstGeom>
          <a:noFill/>
        </p:spPr>
        <p:txBody>
          <a:bodyPr wrap="square">
            <a:spAutoFit/>
          </a:bodyPr>
          <a:lstStyle/>
          <a:p>
            <a:pPr>
              <a:defRPr sz="1000" b="1">
                <a:solidFill>
                  <a:srgbClr val="F8FAFC"/>
                </a:solidFill>
                <a:latin typeface="Segoe UI"/>
              </a:defRPr>
            </a:pPr>
            <a:r>
              <a:t>2. WoT Path Verification</a:t>
            </a:r>
          </a:p>
          <a:p>
            <a:pPr>
              <a:defRPr sz="850">
                <a:solidFill>
                  <a:srgbClr val="94A3B8"/>
                </a:solidFill>
                <a:latin typeface="Segoe UI"/>
              </a:defRPr>
            </a:pPr>
            <a:r>
              <a:t>BFS path search (depth &lt;= 3, conf &gt;= 0.25)</a:t>
            </a:r>
          </a:p>
        </p:txBody>
      </p:sp>
      <p:sp>
        <p:nvSpPr>
          <p:cNvPr id="10" name="Rounded Rectangle 9"/>
          <p:cNvSpPr/>
          <p:nvPr/>
        </p:nvSpPr>
        <p:spPr>
          <a:xfrm>
            <a:off x="5120640" y="1463040"/>
            <a:ext cx="2057400" cy="11887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93792" y="1536192"/>
            <a:ext cx="1911095" cy="1051560"/>
          </a:xfrm>
          <a:prstGeom prst="rect">
            <a:avLst/>
          </a:prstGeom>
          <a:noFill/>
        </p:spPr>
        <p:txBody>
          <a:bodyPr wrap="square">
            <a:spAutoFit/>
          </a:bodyPr>
          <a:lstStyle/>
          <a:p>
            <a:pPr>
              <a:defRPr sz="1000" b="1">
                <a:solidFill>
                  <a:srgbClr val="F8FAFC"/>
                </a:solidFill>
                <a:latin typeface="Segoe UI"/>
              </a:defRPr>
            </a:pPr>
            <a:r>
              <a:t>3. Manifest Exchange</a:t>
            </a:r>
          </a:p>
          <a:p>
            <a:pPr>
              <a:defRPr sz="850">
                <a:solidFill>
                  <a:srgbClr val="94A3B8"/>
                </a:solidFill>
                <a:latin typeface="Segoe UI"/>
              </a:defRPr>
            </a:pPr>
            <a:r>
              <a:t>Downloader receives root hash R and chunk list</a:t>
            </a:r>
          </a:p>
        </p:txBody>
      </p:sp>
      <p:sp>
        <p:nvSpPr>
          <p:cNvPr id="12" name="Rounded Rectangle 11"/>
          <p:cNvSpPr/>
          <p:nvPr/>
        </p:nvSpPr>
        <p:spPr>
          <a:xfrm>
            <a:off x="7315199" y="1463040"/>
            <a:ext cx="2057400" cy="11887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88351" y="1536192"/>
            <a:ext cx="1911095" cy="1051560"/>
          </a:xfrm>
          <a:prstGeom prst="rect">
            <a:avLst/>
          </a:prstGeom>
          <a:noFill/>
        </p:spPr>
        <p:txBody>
          <a:bodyPr wrap="square">
            <a:spAutoFit/>
          </a:bodyPr>
          <a:lstStyle/>
          <a:p>
            <a:pPr>
              <a:defRPr sz="1000" b="1">
                <a:solidFill>
                  <a:srgbClr val="F8FAFC"/>
                </a:solidFill>
                <a:latin typeface="Segoe UI"/>
              </a:defRPr>
            </a:pPr>
            <a:r>
              <a:t>4. Chunk Audit &amp; Delivery</a:t>
            </a:r>
          </a:p>
          <a:p>
            <a:pPr>
              <a:defRPr sz="850">
                <a:solidFill>
                  <a:srgbClr val="94A3B8"/>
                </a:solidFill>
                <a:latin typeface="Segoe UI"/>
              </a:defRPr>
            </a:pPr>
            <a:r>
              <a:t>Verify O(log N) Merkle path against root R</a:t>
            </a:r>
          </a:p>
        </p:txBody>
      </p:sp>
      <p:sp>
        <p:nvSpPr>
          <p:cNvPr id="14" name="Rounded Rectangle 13"/>
          <p:cNvSpPr/>
          <p:nvPr/>
        </p:nvSpPr>
        <p:spPr>
          <a:xfrm>
            <a:off x="9509760" y="1463040"/>
            <a:ext cx="2057400" cy="11887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82912" y="1536192"/>
            <a:ext cx="1911095" cy="1051560"/>
          </a:xfrm>
          <a:prstGeom prst="rect">
            <a:avLst/>
          </a:prstGeom>
          <a:noFill/>
        </p:spPr>
        <p:txBody>
          <a:bodyPr wrap="square">
            <a:spAutoFit/>
          </a:bodyPr>
          <a:lstStyle/>
          <a:p>
            <a:pPr>
              <a:defRPr sz="1000" b="1">
                <a:solidFill>
                  <a:srgbClr val="F8FAFC"/>
                </a:solidFill>
                <a:latin typeface="Segoe UI"/>
              </a:defRPr>
            </a:pPr>
            <a:r>
              <a:t>5. Evidence Settlement</a:t>
            </a:r>
          </a:p>
          <a:p>
            <a:pPr>
              <a:defRPr sz="850">
                <a:solidFill>
                  <a:srgbClr val="94A3B8"/>
                </a:solidFill>
                <a:latin typeface="Segoe UI"/>
              </a:defRPr>
            </a:pPr>
            <a:r>
              <a:t>Exchange BilateralReceipt or issue dispute</a:t>
            </a:r>
          </a:p>
        </p:txBody>
      </p:sp>
      <p:sp>
        <p:nvSpPr>
          <p:cNvPr id="16" name="Rounded Rectangle 15"/>
          <p:cNvSpPr/>
          <p:nvPr/>
        </p:nvSpPr>
        <p:spPr>
          <a:xfrm>
            <a:off x="731520" y="2834640"/>
            <a:ext cx="5212080" cy="3291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2971800"/>
            <a:ext cx="4882896" cy="365760"/>
          </a:xfrm>
          <a:prstGeom prst="rect">
            <a:avLst/>
          </a:prstGeom>
          <a:noFill/>
        </p:spPr>
        <p:txBody>
          <a:bodyPr wrap="square">
            <a:spAutoFit/>
          </a:bodyPr>
          <a:lstStyle/>
          <a:p>
            <a:pPr>
              <a:defRPr sz="1250" b="1">
                <a:solidFill>
                  <a:srgbClr val="38BDF8"/>
                </a:solidFill>
                <a:latin typeface="Segoe UI"/>
              </a:defRPr>
            </a:pPr>
            <a:r>
              <a:t>Merkle Fault Attribution Complexity</a:t>
            </a:r>
          </a:p>
        </p:txBody>
      </p:sp>
      <p:sp>
        <p:nvSpPr>
          <p:cNvPr id="18" name="TextBox 17"/>
          <p:cNvSpPr txBox="1"/>
          <p:nvPr/>
        </p:nvSpPr>
        <p:spPr>
          <a:xfrm>
            <a:off x="868680" y="3291840"/>
            <a:ext cx="4937760" cy="2651760"/>
          </a:xfrm>
          <a:prstGeom prst="rect">
            <a:avLst/>
          </a:prstGeom>
          <a:noFill/>
        </p:spPr>
        <p:txBody>
          <a:bodyPr wrap="square">
            <a:spAutoFit/>
          </a:bodyPr>
          <a:lstStyle/>
          <a:p>
            <a:pPr>
              <a:defRPr sz="1000" b="1">
                <a:solidFill>
                  <a:srgbClr val="F8FAFC"/>
                </a:solidFill>
                <a:latin typeface="Segoe UI"/>
              </a:defRPr>
            </a:pPr>
            <a:r>
              <a:t>• Logarithmic Verification:</a:t>
            </a:r>
          </a:p>
          <a:p>
            <a:pPr>
              <a:spcAft>
                <a:spcPts val="400"/>
              </a:spcAft>
              <a:defRPr sz="950">
                <a:solidFill>
                  <a:srgbClr val="94A3B8"/>
                </a:solidFill>
                <a:latin typeface="Segoe UI"/>
              </a:defRPr>
            </a:pPr>
            <a:r>
              <a:t>For a file split into N chunks, proof verification takes exactly O(log N) hash operations and requires O(log N) sibling hashes.</a:t>
            </a:r>
          </a:p>
          <a:p>
            <a:pPr>
              <a:defRPr sz="1000" b="1">
                <a:solidFill>
                  <a:srgbClr val="F8FAFC"/>
                </a:solidFill>
                <a:latin typeface="Segoe UI"/>
              </a:defRPr>
            </a:pPr>
            <a:r>
              <a:t>• Avoids Full Payload Download:</a:t>
            </a:r>
          </a:p>
          <a:p>
            <a:pPr>
              <a:spcAft>
                <a:spcPts val="400"/>
              </a:spcAft>
              <a:defRPr sz="950">
                <a:solidFill>
                  <a:srgbClr val="94A3B8"/>
                </a:solidFill>
                <a:latin typeface="Segoe UI"/>
              </a:defRPr>
            </a:pPr>
            <a:r>
              <a:t>A downloader verifies chunk i in isolation without downloading all N chunks, immediately isolating corrupted transmissions.</a:t>
            </a:r>
          </a:p>
          <a:p>
            <a:pPr>
              <a:defRPr sz="1000" b="1">
                <a:solidFill>
                  <a:srgbClr val="F8FAFC"/>
                </a:solidFill>
                <a:latin typeface="Segoe UI"/>
              </a:defRPr>
            </a:pPr>
            <a:r>
              <a:t>• Contradiction Proof:</a:t>
            </a:r>
          </a:p>
          <a:p>
            <a:pPr>
              <a:spcAft>
                <a:spcPts val="400"/>
              </a:spcAft>
              <a:defRPr sz="950">
                <a:solidFill>
                  <a:srgbClr val="94A3B8"/>
                </a:solidFill>
                <a:latin typeface="Segoe UI"/>
              </a:defRPr>
            </a:pPr>
            <a:r>
              <a:t>If computed root R_calc != R_manifest, the downloader generates an undeniable proof of malfeasance containing: chunk_index, chunk_data, and audit_path.</a:t>
            </a:r>
          </a:p>
          <a:p>
            <a:pPr>
              <a:defRPr sz="1000" b="1">
                <a:solidFill>
                  <a:srgbClr val="F8FAFC"/>
                </a:solidFill>
                <a:latin typeface="Segoe UI"/>
              </a:defRPr>
            </a:pPr>
            <a:r>
              <a:t>• Slander Resistance:</a:t>
            </a:r>
          </a:p>
          <a:p>
            <a:pPr>
              <a:spcAft>
                <a:spcPts val="400"/>
              </a:spcAft>
              <a:defRPr sz="950">
                <a:solidFill>
                  <a:srgbClr val="94A3B8"/>
                </a:solidFill>
                <a:latin typeface="Segoe UI"/>
              </a:defRPr>
            </a:pPr>
            <a:r>
              <a:t>A malicious downloader cannot falsely accuse an honest uploader because the uploader's signature is bound to the verifiable Merkle root.</a:t>
            </a:r>
          </a:p>
        </p:txBody>
      </p:sp>
      <p:sp>
        <p:nvSpPr>
          <p:cNvPr id="19" name="Rounded Rectangle 18"/>
          <p:cNvSpPr/>
          <p:nvPr/>
        </p:nvSpPr>
        <p:spPr>
          <a:xfrm>
            <a:off x="6217920" y="2834640"/>
            <a:ext cx="5212080" cy="3291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971800"/>
            <a:ext cx="4882896" cy="365760"/>
          </a:xfrm>
          <a:prstGeom prst="rect">
            <a:avLst/>
          </a:prstGeom>
          <a:noFill/>
        </p:spPr>
        <p:txBody>
          <a:bodyPr wrap="square">
            <a:spAutoFit/>
          </a:bodyPr>
          <a:lstStyle/>
          <a:p>
            <a:pPr>
              <a:defRPr sz="1250" b="1">
                <a:solidFill>
                  <a:srgbClr val="38BDF8"/>
                </a:solidFill>
                <a:latin typeface="Segoe UI"/>
              </a:defRPr>
            </a:pPr>
            <a:r>
              <a:t>Tier 3 Evidence Portability Gap</a:t>
            </a:r>
          </a:p>
        </p:txBody>
      </p:sp>
      <p:sp>
        <p:nvSpPr>
          <p:cNvPr id="21" name="TextBox 20"/>
          <p:cNvSpPr txBox="1"/>
          <p:nvPr/>
        </p:nvSpPr>
        <p:spPr>
          <a:xfrm>
            <a:off x="6355080" y="3291840"/>
            <a:ext cx="4937760" cy="2651760"/>
          </a:xfrm>
          <a:prstGeom prst="rect">
            <a:avLst/>
          </a:prstGeom>
          <a:noFill/>
        </p:spPr>
        <p:txBody>
          <a:bodyPr wrap="square">
            <a:spAutoFit/>
          </a:bodyPr>
          <a:lstStyle/>
          <a:p>
            <a:pPr>
              <a:defRPr sz="1000" b="1">
                <a:solidFill>
                  <a:srgbClr val="F59E0B"/>
                </a:solidFill>
                <a:latin typeface="Segoe UI"/>
              </a:defRPr>
            </a:pPr>
            <a:r>
              <a:t>• Simulator Global Key Oracle:</a:t>
            </a:r>
          </a:p>
          <a:p>
            <a:pPr>
              <a:spcAft>
                <a:spcPts val="400"/>
              </a:spcAft>
              <a:defRPr sz="950">
                <a:solidFill>
                  <a:srgbClr val="94A3B8"/>
                </a:solidFill>
                <a:latin typeface="Segoe UI"/>
              </a:defRPr>
            </a:pPr>
            <a:r>
              <a:t>In the evaluated Phase 8.2 simulator, delivery receipts rely on a global simulator key oracle D_sim to cross-verify signatures.</a:t>
            </a:r>
          </a:p>
          <a:p>
            <a:pPr>
              <a:defRPr sz="1000" b="1">
                <a:solidFill>
                  <a:srgbClr val="F8FAFC"/>
                </a:solidFill>
                <a:latin typeface="Segoe UI"/>
              </a:defRPr>
            </a:pPr>
            <a:r>
              <a:t>• BilateralReceipt Limitation:</a:t>
            </a:r>
          </a:p>
          <a:p>
            <a:pPr>
              <a:spcAft>
                <a:spcPts val="400"/>
              </a:spcAft>
              <a:defRPr sz="950">
                <a:solidFill>
                  <a:srgbClr val="94A3B8"/>
                </a:solidFill>
                <a:latin typeface="Segoe UI"/>
              </a:defRPr>
            </a:pPr>
            <a:r>
              <a:t>Real-world BilateralReceipt instances are signed pairwise between peer i and peer j; they are not inherently portable third-party proofs.</a:t>
            </a:r>
          </a:p>
          <a:p>
            <a:pPr>
              <a:defRPr sz="1000" b="1">
                <a:solidFill>
                  <a:srgbClr val="F8FAFC"/>
                </a:solidFill>
                <a:latin typeface="Segoe UI"/>
              </a:defRPr>
            </a:pPr>
            <a:r>
              <a:t>• Upper-Bound Idealization:</a:t>
            </a:r>
          </a:p>
          <a:p>
            <a:pPr>
              <a:spcAft>
                <a:spcPts val="400"/>
              </a:spcAft>
              <a:defRPr sz="950">
                <a:solidFill>
                  <a:srgbClr val="94A3B8"/>
                </a:solidFill>
                <a:latin typeface="Segoe UI"/>
              </a:defRPr>
            </a:pPr>
            <a:r>
              <a:t>The simulation assumes perfect global receipt visibility, representing an empirical upper-bound on dispute resolution.</a:t>
            </a:r>
          </a:p>
          <a:p>
            <a:pPr>
              <a:defRPr sz="1000" b="1">
                <a:solidFill>
                  <a:srgbClr val="F8FAFC"/>
                </a:solidFill>
                <a:latin typeface="Segoe UI"/>
              </a:defRPr>
            </a:pPr>
            <a:r>
              <a:t>• Practical Mitigation:</a:t>
            </a:r>
          </a:p>
          <a:p>
            <a:pPr>
              <a:spcAft>
                <a:spcPts val="400"/>
              </a:spcAft>
              <a:defRPr sz="950">
                <a:solidFill>
                  <a:srgbClr val="94A3B8"/>
                </a:solidFill>
                <a:latin typeface="Segoe UI"/>
              </a:defRPr>
            </a:pPr>
            <a:r>
              <a:t>Production decentralized deployment would require threshold multi-signatures or cryptographic zero-knowledge proofs for trustless third-party verification.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Experimental Methodology &amp; Simulation Benchmark</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11 of 15</a:t>
            </a:r>
          </a:p>
        </p:txBody>
      </p:sp>
      <p:sp>
        <p:nvSpPr>
          <p:cNvPr id="6" name="Rounded Rectangle 5"/>
          <p:cNvSpPr/>
          <p:nvPr/>
        </p:nvSpPr>
        <p:spPr>
          <a:xfrm>
            <a:off x="731520" y="146304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3054096" cy="365760"/>
          </a:xfrm>
          <a:prstGeom prst="rect">
            <a:avLst/>
          </a:prstGeom>
          <a:noFill/>
        </p:spPr>
        <p:txBody>
          <a:bodyPr wrap="square">
            <a:spAutoFit/>
          </a:bodyPr>
          <a:lstStyle/>
          <a:p>
            <a:pPr>
              <a:defRPr sz="1250" b="1">
                <a:solidFill>
                  <a:srgbClr val="38BDF8"/>
                </a:solidFill>
                <a:latin typeface="Segoe UI"/>
              </a:defRPr>
            </a:pPr>
            <a:r>
              <a:t>Experimental Protocol Setup</a:t>
            </a:r>
          </a:p>
        </p:txBody>
      </p:sp>
      <p:sp>
        <p:nvSpPr>
          <p:cNvPr id="8" name="TextBox 7"/>
          <p:cNvSpPr txBox="1"/>
          <p:nvPr/>
        </p:nvSpPr>
        <p:spPr>
          <a:xfrm>
            <a:off x="868680" y="2011680"/>
            <a:ext cx="3108960" cy="3931920"/>
          </a:xfrm>
          <a:prstGeom prst="rect">
            <a:avLst/>
          </a:prstGeom>
          <a:noFill/>
        </p:spPr>
        <p:txBody>
          <a:bodyPr wrap="square">
            <a:spAutoFit/>
          </a:bodyPr>
          <a:lstStyle/>
          <a:p>
            <a:pPr>
              <a:defRPr sz="1050" b="1">
                <a:solidFill>
                  <a:srgbClr val="F8FAFC"/>
                </a:solidFill>
                <a:latin typeface="Segoe UI"/>
              </a:defRPr>
            </a:pPr>
            <a:r>
              <a:t>• Preregistered Baseline:</a:t>
            </a:r>
          </a:p>
          <a:p>
            <a:pPr>
              <a:spcAft>
                <a:spcPts val="600"/>
              </a:spcAft>
              <a:defRPr sz="1000">
                <a:solidFill>
                  <a:srgbClr val="94A3B8"/>
                </a:solidFill>
                <a:latin typeface="Segoe UI"/>
              </a:defRPr>
            </a:pPr>
            <a:r>
              <a:t>1,140 total trial runs executed under strict preregistration (Phase 8.2 protocol).</a:t>
            </a:r>
          </a:p>
          <a:p>
            <a:pPr>
              <a:defRPr sz="1050" b="1">
                <a:solidFill>
                  <a:srgbClr val="F8FAFC"/>
                </a:solidFill>
                <a:latin typeface="Segoe UI"/>
              </a:defRPr>
            </a:pPr>
            <a:r>
              <a:t>• Network Topology:</a:t>
            </a:r>
          </a:p>
          <a:p>
            <a:pPr>
              <a:spcAft>
                <a:spcPts val="600"/>
              </a:spcAft>
              <a:defRPr sz="1000">
                <a:solidFill>
                  <a:srgbClr val="94A3B8"/>
                </a:solidFill>
                <a:latin typeface="Segoe UI"/>
              </a:defRPr>
            </a:pPr>
            <a:r>
              <a:t>N = 30 and N = 50 nodes:</a:t>
            </a:r>
            <a:br/>
            <a:r>
              <a:t>• 20 Honest nodes</a:t>
            </a:r>
            <a:br/>
            <a:r>
              <a:t>• 5 Colluding nodes</a:t>
            </a:r>
            <a:br/>
            <a:r>
              <a:t>• 5 Sybils / Malicious nodes</a:t>
            </a:r>
          </a:p>
          <a:p>
            <a:pPr>
              <a:defRPr sz="1050" b="1">
                <a:solidFill>
                  <a:srgbClr val="F8FAFC"/>
                </a:solidFill>
                <a:latin typeface="Segoe UI"/>
              </a:defRPr>
            </a:pPr>
            <a:r>
              <a:t>• Simulation Engine:</a:t>
            </a:r>
          </a:p>
          <a:p>
            <a:pPr>
              <a:spcAft>
                <a:spcPts val="600"/>
              </a:spcAft>
              <a:defRPr sz="1000">
                <a:solidFill>
                  <a:srgbClr val="94A3B8"/>
                </a:solidFill>
                <a:latin typeface="Segoe UI"/>
              </a:defRPr>
            </a:pPr>
            <a:r>
              <a:t>Custom discrete-event P2P simulator with paired random seeds (S = 100) across all modes.</a:t>
            </a:r>
          </a:p>
          <a:p>
            <a:pPr>
              <a:defRPr sz="1050" b="1">
                <a:solidFill>
                  <a:srgbClr val="F8FAFC"/>
                </a:solidFill>
                <a:latin typeface="Segoe UI"/>
              </a:defRPr>
            </a:pPr>
            <a:r>
              <a:t>• Evaluation Modes:</a:t>
            </a:r>
          </a:p>
          <a:p>
            <a:pPr>
              <a:spcAft>
                <a:spcPts val="600"/>
              </a:spcAft>
              <a:defRPr sz="1000">
                <a:solidFill>
                  <a:srgbClr val="94A3B8"/>
                </a:solidFill>
                <a:latin typeface="Segoe UI"/>
              </a:defRPr>
            </a:pPr>
            <a:r>
              <a:t>1. Standard EigenTrust [3]</a:t>
            </a:r>
            <a:br/>
            <a:r>
              <a:t>2. EW-EigenTrust v1.8</a:t>
            </a:r>
            <a:br/>
            <a:r>
              <a:t>3. PoW-Gated EW-EigenTrust</a:t>
            </a:r>
          </a:p>
        </p:txBody>
      </p:sp>
      <p:sp>
        <p:nvSpPr>
          <p:cNvPr id="9" name="Rounded Rectangle 8"/>
          <p:cNvSpPr/>
          <p:nvPr/>
        </p:nvSpPr>
        <p:spPr>
          <a:xfrm>
            <a:off x="4389120" y="1463040"/>
            <a:ext cx="707105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600200"/>
            <a:ext cx="6741871" cy="365760"/>
          </a:xfrm>
          <a:prstGeom prst="rect">
            <a:avLst/>
          </a:prstGeom>
          <a:noFill/>
        </p:spPr>
        <p:txBody>
          <a:bodyPr wrap="square">
            <a:spAutoFit/>
          </a:bodyPr>
          <a:lstStyle/>
          <a:p>
            <a:pPr>
              <a:defRPr sz="1250" b="1">
                <a:solidFill>
                  <a:srgbClr val="38BDF8"/>
                </a:solidFill>
                <a:latin typeface="Segoe UI"/>
              </a:defRPr>
            </a:pPr>
            <a:r>
              <a:t>Preregistered Attack Scenarios Matrix</a:t>
            </a:r>
          </a:p>
        </p:txBody>
      </p:sp>
      <p:sp>
        <p:nvSpPr>
          <p:cNvPr id="11" name="TextBox 10"/>
          <p:cNvSpPr txBox="1"/>
          <p:nvPr/>
        </p:nvSpPr>
        <p:spPr>
          <a:xfrm>
            <a:off x="4526280" y="2011680"/>
            <a:ext cx="6766560" cy="3931920"/>
          </a:xfrm>
          <a:prstGeom prst="rect">
            <a:avLst/>
          </a:prstGeom>
          <a:noFill/>
        </p:spPr>
        <p:txBody>
          <a:bodyPr wrap="square">
            <a:spAutoFit/>
          </a:bodyPr>
          <a:lstStyle/>
          <a:p>
            <a:pPr>
              <a:spcAft>
                <a:spcPts val="300"/>
              </a:spcAft>
              <a:defRPr sz="1100" b="1">
                <a:solidFill>
                  <a:srgbClr val="38BDF8"/>
                </a:solidFill>
                <a:latin typeface="Segoe UI"/>
              </a:defRPr>
            </a:pPr>
            <a:r>
              <a:t>Scenarios 1-3: Identity &amp; Whitewashing Attacks</a:t>
            </a:r>
          </a:p>
          <a:p>
            <a:pPr>
              <a:spcAft>
                <a:spcPts val="300"/>
              </a:spcAft>
              <a:defRPr sz="950">
                <a:solidFill>
                  <a:srgbClr val="94A3B8"/>
                </a:solidFill>
                <a:latin typeface="Segoe UI"/>
              </a:defRPr>
            </a:pPr>
            <a:r>
              <a:t>• Scen 1 (Sybil Swarm): Rapid generation of unverified pseudonyms; throttled by Layer 1 PoW.</a:t>
            </a:r>
          </a:p>
          <a:p>
            <a:pPr>
              <a:spcAft>
                <a:spcPts val="300"/>
              </a:spcAft>
              <a:defRPr sz="950">
                <a:solidFill>
                  <a:srgbClr val="94A3B8"/>
                </a:solidFill>
                <a:latin typeface="Segoe UI"/>
              </a:defRPr>
            </a:pPr>
            <a:r>
              <a:t>• Scen 2 (Whitewashing): Malicious nodes discard low-reputation identities; prevented by fresh identity baseline.</a:t>
            </a:r>
          </a:p>
          <a:p>
            <a:pPr>
              <a:spcAft>
                <a:spcPts val="300"/>
              </a:spcAft>
              <a:defRPr sz="950">
                <a:solidFill>
                  <a:srgbClr val="94A3B8"/>
                </a:solidFill>
                <a:latin typeface="Segoe UI"/>
              </a:defRPr>
            </a:pPr>
            <a:r>
              <a:t>• Scen 3 (Transaction Spam): Low-value uncoordinated spamming; filtered by receipt weighting.</a:t>
            </a:r>
          </a:p>
          <a:p>
            <a:pPr>
              <a:spcAft>
                <a:spcPts val="300"/>
              </a:spcAft>
              <a:defRPr sz="1100" b="1">
                <a:solidFill>
                  <a:srgbClr val="38BDF8"/>
                </a:solidFill>
                <a:latin typeface="Segoe UI"/>
              </a:defRPr>
            </a:pPr>
            <a:r>
              <a:t>Scenarios 4-5: Collusion Ring Topologies</a:t>
            </a:r>
          </a:p>
          <a:p>
            <a:pPr>
              <a:spcAft>
                <a:spcPts val="300"/>
              </a:spcAft>
              <a:defRPr sz="950">
                <a:solidFill>
                  <a:srgbClr val="94A3B8"/>
                </a:solidFill>
                <a:latin typeface="Segoe UI"/>
              </a:defRPr>
            </a:pPr>
            <a:r>
              <a:t>• Scen 4 (Closed Collusion): 5 colluders rate each other exclusively; no external interactions.</a:t>
            </a:r>
          </a:p>
          <a:p>
            <a:pPr>
              <a:spcAft>
                <a:spcPts val="300"/>
              </a:spcAft>
              <a:defRPr sz="950">
                <a:solidFill>
                  <a:srgbClr val="94A3B8"/>
                </a:solidFill>
                <a:latin typeface="Segoe UI"/>
              </a:defRPr>
            </a:pPr>
            <a:r>
              <a:t>• Scen 5 (Leaky Coalition): Colluders engage in honest transactions with honest nodes while boosting confederates.</a:t>
            </a:r>
          </a:p>
          <a:p>
            <a:pPr>
              <a:spcAft>
                <a:spcPts val="300"/>
              </a:spcAft>
              <a:defRPr sz="1100" b="1">
                <a:solidFill>
                  <a:srgbClr val="38BDF8"/>
                </a:solidFill>
                <a:latin typeface="Segoe UI"/>
              </a:defRPr>
            </a:pPr>
            <a:r>
              <a:t>Scenarios 6-8: Exploitation &amp; Dynamic Perturbations</a:t>
            </a:r>
          </a:p>
          <a:p>
            <a:pPr>
              <a:spcAft>
                <a:spcPts val="300"/>
              </a:spcAft>
              <a:defRPr sz="950">
                <a:solidFill>
                  <a:srgbClr val="94A3B8"/>
                </a:solidFill>
                <a:latin typeface="Segoe UI"/>
              </a:defRPr>
            </a:pPr>
            <a:r>
              <a:t>• Scen 6 (Receipt Grinding): Colluders generate high synthetic transaction volumes to harvest trust.</a:t>
            </a:r>
          </a:p>
          <a:p>
            <a:pPr>
              <a:spcAft>
                <a:spcPts val="300"/>
              </a:spcAft>
              <a:defRPr sz="950">
                <a:solidFill>
                  <a:srgbClr val="94A3B8"/>
                </a:solidFill>
                <a:latin typeface="Segoe UI"/>
              </a:defRPr>
            </a:pPr>
            <a:r>
              <a:t>• Scen 7 (Slander Disputes): Colluders file false complaints; structurally degenerate in simulation.</a:t>
            </a:r>
          </a:p>
          <a:p>
            <a:pPr>
              <a:spcAft>
                <a:spcPts val="300"/>
              </a:spcAft>
              <a:defRPr sz="950">
                <a:solidFill>
                  <a:srgbClr val="94A3B8"/>
                </a:solidFill>
                <a:latin typeface="Segoe UI"/>
              </a:defRPr>
            </a:pPr>
            <a:r>
              <a:t>• Scen 8 (Churn &amp; Partition): High node arrival/departure rates; validates convergence stability.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Key Empirical Results &amp; Statistical Findings</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12 of 15</a:t>
            </a:r>
          </a:p>
        </p:txBody>
      </p:sp>
      <p:graphicFrame>
        <p:nvGraphicFramePr>
          <p:cNvPr id="6" name="Table 5"/>
          <p:cNvGraphicFramePr>
            <a:graphicFrameLocks noGrp="1"/>
          </p:cNvGraphicFramePr>
          <p:nvPr/>
        </p:nvGraphicFramePr>
        <p:xfrm>
          <a:off x="731520" y="1463040"/>
          <a:ext cx="10728655" cy="2377440"/>
        </p:xfrm>
        <a:graphic>
          <a:graphicData uri="http://schemas.openxmlformats.org/drawingml/2006/table">
            <a:tbl>
              <a:tblPr firstRow="1" bandRow="1">
                <a:tableStyleId>{5C22544A-7EE6-4342-B048-85BDC9FD1C3A}</a:tableStyleId>
              </a:tblPr>
              <a:tblGrid>
                <a:gridCol w="2926080"/>
                <a:gridCol w="1920240"/>
                <a:gridCol w="1920240"/>
                <a:gridCol w="1920240"/>
                <a:gridCol w="2041855"/>
              </a:tblGrid>
              <a:tr h="475488">
                <a:tc>
                  <a:txBody>
                    <a:bodyPr/>
                    <a:lstStyle/>
                    <a:p>
                      <a:pPr>
                        <a:defRPr sz="1000" b="1">
                          <a:solidFill>
                            <a:srgbClr val="38BDF8"/>
                          </a:solidFill>
                          <a:latin typeface="Segoe UI"/>
                        </a:defRPr>
                      </a:pPr>
                      <a:r>
                        <a:t>Scenario &amp; Attack Vector</a:t>
                      </a:r>
                    </a:p>
                  </a:txBody>
                  <a:tcPr>
                    <a:solidFill>
                      <a:srgbClr val="0F172A"/>
                    </a:solidFill>
                  </a:tcPr>
                </a:tc>
                <a:tc>
                  <a:txBody>
                    <a:bodyPr/>
                    <a:lstStyle/>
                    <a:p>
                      <a:pPr>
                        <a:defRPr sz="1000" b="1">
                          <a:solidFill>
                            <a:srgbClr val="38BDF8"/>
                          </a:solidFill>
                          <a:latin typeface="Segoe UI"/>
                        </a:defRPr>
                      </a:pPr>
                      <a:r>
                        <a:t>Standard EigenTrust</a:t>
                      </a:r>
                    </a:p>
                  </a:txBody>
                  <a:tcPr>
                    <a:solidFill>
                      <a:srgbClr val="0F172A"/>
                    </a:solidFill>
                  </a:tcPr>
                </a:tc>
                <a:tc>
                  <a:txBody>
                    <a:bodyPr/>
                    <a:lstStyle/>
                    <a:p>
                      <a:pPr>
                        <a:defRPr sz="1000" b="1">
                          <a:solidFill>
                            <a:srgbClr val="38BDF8"/>
                          </a:solidFill>
                          <a:latin typeface="Segoe UI"/>
                        </a:defRPr>
                      </a:pPr>
                      <a:r>
                        <a:t>EW-EigenTrust v1.8</a:t>
                      </a:r>
                    </a:p>
                  </a:txBody>
                  <a:tcPr>
                    <a:solidFill>
                      <a:srgbClr val="0F172A"/>
                    </a:solidFill>
                  </a:tcPr>
                </a:tc>
                <a:tc>
                  <a:txBody>
                    <a:bodyPr/>
                    <a:lstStyle/>
                    <a:p>
                      <a:pPr>
                        <a:defRPr sz="1000" b="1">
                          <a:solidFill>
                            <a:srgbClr val="38BDF8"/>
                          </a:solidFill>
                          <a:latin typeface="Segoe UI"/>
                        </a:defRPr>
                      </a:pPr>
                      <a:r>
                        <a:t>Relative Shift (%)</a:t>
                      </a:r>
                    </a:p>
                  </a:txBody>
                  <a:tcPr>
                    <a:solidFill>
                      <a:srgbClr val="0F172A"/>
                    </a:solidFill>
                  </a:tcPr>
                </a:tc>
                <a:tc>
                  <a:txBody>
                    <a:bodyPr/>
                    <a:lstStyle/>
                    <a:p>
                      <a:pPr>
                        <a:defRPr sz="1000" b="1">
                          <a:solidFill>
                            <a:srgbClr val="38BDF8"/>
                          </a:solidFill>
                          <a:latin typeface="Segoe UI"/>
                        </a:defRPr>
                      </a:pPr>
                      <a:r>
                        <a:t>Statistical Significance</a:t>
                      </a:r>
                    </a:p>
                  </a:txBody>
                  <a:tcPr>
                    <a:solidFill>
                      <a:srgbClr val="0F172A"/>
                    </a:solidFill>
                  </a:tcPr>
                </a:tc>
              </a:tr>
              <a:tr h="475488">
                <a:tc>
                  <a:txBody>
                    <a:bodyPr/>
                    <a:lstStyle/>
                    <a:p>
                      <a:pPr>
                        <a:defRPr sz="950">
                          <a:solidFill>
                            <a:srgbClr val="F8FAFC"/>
                          </a:solidFill>
                          <a:latin typeface="Segoe UI"/>
                        </a:defRPr>
                      </a:pPr>
                      <a:r>
                        <a:t>Scenario 5: Leaky Coalition Colluder Trust</a:t>
                      </a:r>
                    </a:p>
                  </a:txBody>
                  <a:tcPr>
                    <a:solidFill>
                      <a:srgbClr val="1E293B"/>
                    </a:solidFill>
                  </a:tcPr>
                </a:tc>
                <a:tc>
                  <a:txBody>
                    <a:bodyPr/>
                    <a:lstStyle/>
                    <a:p>
                      <a:pPr>
                        <a:defRPr sz="950">
                          <a:solidFill>
                            <a:srgbClr val="F8FAFC"/>
                          </a:solidFill>
                          <a:latin typeface="Segoe UI"/>
                        </a:defRPr>
                      </a:pPr>
                      <a:r>
                        <a:t>0.1834 ± 0.012</a:t>
                      </a:r>
                    </a:p>
                  </a:txBody>
                  <a:tcPr>
                    <a:solidFill>
                      <a:srgbClr val="1E293B"/>
                    </a:solidFill>
                  </a:tcPr>
                </a:tc>
                <a:tc>
                  <a:txBody>
                    <a:bodyPr/>
                    <a:lstStyle/>
                    <a:p>
                      <a:pPr>
                        <a:defRPr sz="950">
                          <a:solidFill>
                            <a:srgbClr val="F8FAFC"/>
                          </a:solidFill>
                          <a:latin typeface="Segoe UI"/>
                        </a:defRPr>
                      </a:pPr>
                      <a:r>
                        <a:t>0.1068 ± 0.009</a:t>
                      </a:r>
                    </a:p>
                  </a:txBody>
                  <a:tcPr>
                    <a:solidFill>
                      <a:srgbClr val="1E293B"/>
                    </a:solidFill>
                  </a:tcPr>
                </a:tc>
                <a:tc>
                  <a:txBody>
                    <a:bodyPr/>
                    <a:lstStyle/>
                    <a:p>
                      <a:pPr>
                        <a:defRPr sz="950">
                          <a:solidFill>
                            <a:srgbClr val="10B981"/>
                          </a:solidFill>
                          <a:latin typeface="Segoe UI"/>
                        </a:defRPr>
                      </a:pPr>
                      <a:r>
                        <a:t>-41.8% (Suppressed)</a:t>
                      </a:r>
                    </a:p>
                  </a:txBody>
                  <a:tcPr>
                    <a:solidFill>
                      <a:srgbClr val="1E293B"/>
                    </a:solidFill>
                  </a:tcPr>
                </a:tc>
                <a:tc>
                  <a:txBody>
                    <a:bodyPr/>
                    <a:lstStyle/>
                    <a:p>
                      <a:pPr>
                        <a:defRPr sz="950">
                          <a:solidFill>
                            <a:srgbClr val="F8FAFC"/>
                          </a:solidFill>
                          <a:latin typeface="Segoe UI"/>
                        </a:defRPr>
                      </a:pPr>
                      <a:r>
                        <a:t>p &lt; 10^(-6), d = 2.45</a:t>
                      </a:r>
                    </a:p>
                  </a:txBody>
                  <a:tcPr>
                    <a:solidFill>
                      <a:srgbClr val="1E293B"/>
                    </a:solidFill>
                  </a:tcPr>
                </a:tc>
              </a:tr>
              <a:tr h="475488">
                <a:tc>
                  <a:txBody>
                    <a:bodyPr/>
                    <a:lstStyle/>
                    <a:p>
                      <a:pPr>
                        <a:defRPr sz="950">
                          <a:solidFill>
                            <a:srgbClr val="F8FAFC"/>
                          </a:solidFill>
                          <a:latin typeface="Segoe UI"/>
                        </a:defRPr>
                      </a:pPr>
                      <a:r>
                        <a:t>Scenario 6: Receipt Grinding (Standard)</a:t>
                      </a:r>
                    </a:p>
                  </a:txBody>
                  <a:tcPr>
                    <a:solidFill>
                      <a:srgbClr val="182234"/>
                    </a:solidFill>
                  </a:tcPr>
                </a:tc>
                <a:tc>
                  <a:txBody>
                    <a:bodyPr/>
                    <a:lstStyle/>
                    <a:p>
                      <a:pPr>
                        <a:defRPr sz="950">
                          <a:solidFill>
                            <a:srgbClr val="F8FAFC"/>
                          </a:solidFill>
                          <a:latin typeface="Segoe UI"/>
                        </a:defRPr>
                      </a:pPr>
                      <a:r>
                        <a:t>0.1420 ± 0.010</a:t>
                      </a:r>
                    </a:p>
                  </a:txBody>
                  <a:tcPr>
                    <a:solidFill>
                      <a:srgbClr val="182234"/>
                    </a:solidFill>
                  </a:tcPr>
                </a:tc>
                <a:tc>
                  <a:txBody>
                    <a:bodyPr/>
                    <a:lstStyle/>
                    <a:p>
                      <a:pPr>
                        <a:defRPr sz="950">
                          <a:solidFill>
                            <a:srgbClr val="F8FAFC"/>
                          </a:solidFill>
                          <a:latin typeface="Segoe UI"/>
                        </a:defRPr>
                      </a:pPr>
                      <a:r>
                        <a:t>0.1610 ± 0.011</a:t>
                      </a:r>
                    </a:p>
                  </a:txBody>
                  <a:tcPr>
                    <a:solidFill>
                      <a:srgbClr val="182234"/>
                    </a:solidFill>
                  </a:tcPr>
                </a:tc>
                <a:tc>
                  <a:txBody>
                    <a:bodyPr/>
                    <a:lstStyle/>
                    <a:p>
                      <a:pPr>
                        <a:defRPr sz="950">
                          <a:solidFill>
                            <a:srgbClr val="F43F5E"/>
                          </a:solidFill>
                          <a:latin typeface="Segoe UI"/>
                        </a:defRPr>
                      </a:pPr>
                      <a:r>
                        <a:t>+13.38% (Colluder Gain)</a:t>
                      </a:r>
                    </a:p>
                  </a:txBody>
                  <a:tcPr>
                    <a:solidFill>
                      <a:srgbClr val="182234"/>
                    </a:solidFill>
                  </a:tcPr>
                </a:tc>
                <a:tc>
                  <a:txBody>
                    <a:bodyPr/>
                    <a:lstStyle/>
                    <a:p>
                      <a:pPr>
                        <a:defRPr sz="950">
                          <a:solidFill>
                            <a:srgbClr val="F8FAFC"/>
                          </a:solidFill>
                          <a:latin typeface="Segoe UI"/>
                        </a:defRPr>
                      </a:pPr>
                      <a:r>
                        <a:t>H-1 Refuted (p &lt; 0.001)</a:t>
                      </a:r>
                    </a:p>
                  </a:txBody>
                  <a:tcPr>
                    <a:solidFill>
                      <a:srgbClr val="182234"/>
                    </a:solidFill>
                  </a:tcPr>
                </a:tc>
              </a:tr>
              <a:tr h="475488">
                <a:tc>
                  <a:txBody>
                    <a:bodyPr/>
                    <a:lstStyle/>
                    <a:p>
                      <a:pPr>
                        <a:defRPr sz="950">
                          <a:solidFill>
                            <a:srgbClr val="F8FAFC"/>
                          </a:solidFill>
                          <a:latin typeface="Segoe UI"/>
                        </a:defRPr>
                      </a:pPr>
                      <a:r>
                        <a:t>Scenario 6: Extended Receipt Grinding</a:t>
                      </a:r>
                    </a:p>
                  </a:txBody>
                  <a:tcPr>
                    <a:solidFill>
                      <a:srgbClr val="1E293B"/>
                    </a:solidFill>
                  </a:tcPr>
                </a:tc>
                <a:tc>
                  <a:txBody>
                    <a:bodyPr/>
                    <a:lstStyle/>
                    <a:p>
                      <a:pPr>
                        <a:defRPr sz="950">
                          <a:solidFill>
                            <a:srgbClr val="F8FAFC"/>
                          </a:solidFill>
                          <a:latin typeface="Segoe UI"/>
                        </a:defRPr>
                      </a:pPr>
                      <a:r>
                        <a:t>0.1420 ± 0.010</a:t>
                      </a:r>
                    </a:p>
                  </a:txBody>
                  <a:tcPr>
                    <a:solidFill>
                      <a:srgbClr val="1E293B"/>
                    </a:solidFill>
                  </a:tcPr>
                </a:tc>
                <a:tc>
                  <a:txBody>
                    <a:bodyPr/>
                    <a:lstStyle/>
                    <a:p>
                      <a:pPr>
                        <a:defRPr sz="950">
                          <a:solidFill>
                            <a:srgbClr val="F8FAFC"/>
                          </a:solidFill>
                          <a:latin typeface="Segoe UI"/>
                        </a:defRPr>
                      </a:pPr>
                      <a:r>
                        <a:t>0.1674 ± 0.012</a:t>
                      </a:r>
                    </a:p>
                  </a:txBody>
                  <a:tcPr>
                    <a:solidFill>
                      <a:srgbClr val="1E293B"/>
                    </a:solidFill>
                  </a:tcPr>
                </a:tc>
                <a:tc>
                  <a:txBody>
                    <a:bodyPr/>
                    <a:lstStyle/>
                    <a:p>
                      <a:pPr>
                        <a:defRPr sz="950">
                          <a:solidFill>
                            <a:srgbClr val="F43F5E"/>
                          </a:solidFill>
                          <a:latin typeface="Segoe UI"/>
                        </a:defRPr>
                      </a:pPr>
                      <a:r>
                        <a:t>+17.92% (Colluder Gain)</a:t>
                      </a:r>
                    </a:p>
                  </a:txBody>
                  <a:tcPr>
                    <a:solidFill>
                      <a:srgbClr val="1E293B"/>
                    </a:solidFill>
                  </a:tcPr>
                </a:tc>
                <a:tc>
                  <a:txBody>
                    <a:bodyPr/>
                    <a:lstStyle/>
                    <a:p>
                      <a:pPr>
                        <a:defRPr sz="950">
                          <a:solidFill>
                            <a:srgbClr val="F8FAFC"/>
                          </a:solidFill>
                          <a:latin typeface="Segoe UI"/>
                        </a:defRPr>
                      </a:pPr>
                      <a:r>
                        <a:t>H-1 Refuted (p &lt; 0.001)</a:t>
                      </a:r>
                    </a:p>
                  </a:txBody>
                  <a:tcPr>
                    <a:solidFill>
                      <a:srgbClr val="1E293B"/>
                    </a:solidFill>
                  </a:tcPr>
                </a:tc>
              </a:tr>
              <a:tr h="475488">
                <a:tc>
                  <a:txBody>
                    <a:bodyPr/>
                    <a:lstStyle/>
                    <a:p>
                      <a:pPr>
                        <a:defRPr sz="950">
                          <a:solidFill>
                            <a:srgbClr val="F8FAFC"/>
                          </a:solidFill>
                          <a:latin typeface="Segoe UI"/>
                        </a:defRPr>
                      </a:pPr>
                      <a:r>
                        <a:t>Scenario 7: Slander / False Accusations</a:t>
                      </a:r>
                    </a:p>
                  </a:txBody>
                  <a:tcPr>
                    <a:solidFill>
                      <a:srgbClr val="182234"/>
                    </a:solidFill>
                  </a:tcPr>
                </a:tc>
                <a:tc>
                  <a:txBody>
                    <a:bodyPr/>
                    <a:lstStyle/>
                    <a:p>
                      <a:pPr>
                        <a:defRPr sz="950">
                          <a:solidFill>
                            <a:srgbClr val="F8FAFC"/>
                          </a:solidFill>
                          <a:latin typeface="Segoe UI"/>
                        </a:defRPr>
                      </a:pPr>
                      <a:r>
                        <a:t>0.0000 ± 0.000</a:t>
                      </a:r>
                    </a:p>
                  </a:txBody>
                  <a:tcPr>
                    <a:solidFill>
                      <a:srgbClr val="182234"/>
                    </a:solidFill>
                  </a:tcPr>
                </a:tc>
                <a:tc>
                  <a:txBody>
                    <a:bodyPr/>
                    <a:lstStyle/>
                    <a:p>
                      <a:pPr>
                        <a:defRPr sz="950">
                          <a:solidFill>
                            <a:srgbClr val="F8FAFC"/>
                          </a:solidFill>
                          <a:latin typeface="Segoe UI"/>
                        </a:defRPr>
                      </a:pPr>
                      <a:r>
                        <a:t>0.0000 ± 0.000</a:t>
                      </a:r>
                    </a:p>
                  </a:txBody>
                  <a:tcPr>
                    <a:solidFill>
                      <a:srgbClr val="182234"/>
                    </a:solidFill>
                  </a:tcPr>
                </a:tc>
                <a:tc>
                  <a:txBody>
                    <a:bodyPr/>
                    <a:lstStyle/>
                    <a:p>
                      <a:pPr>
                        <a:defRPr sz="950">
                          <a:solidFill>
                            <a:srgbClr val="F8FAFC"/>
                          </a:solidFill>
                          <a:latin typeface="Segoe UI"/>
                        </a:defRPr>
                      </a:pPr>
                      <a:r>
                        <a:t>0.00% (Degenerate)</a:t>
                      </a:r>
                    </a:p>
                  </a:txBody>
                  <a:tcPr>
                    <a:solidFill>
                      <a:srgbClr val="182234"/>
                    </a:solidFill>
                  </a:tcPr>
                </a:tc>
                <a:tc>
                  <a:txBody>
                    <a:bodyPr/>
                    <a:lstStyle/>
                    <a:p>
                      <a:pPr>
                        <a:defRPr sz="950">
                          <a:solidFill>
                            <a:srgbClr val="F8FAFC"/>
                          </a:solidFill>
                          <a:latin typeface="Segoe UI"/>
                        </a:defRPr>
                      </a:pPr>
                      <a:r>
                        <a:t>Structurally Disconnected</a:t>
                      </a:r>
                    </a:p>
                  </a:txBody>
                  <a:tcPr>
                    <a:solidFill>
                      <a:srgbClr val="182234"/>
                    </a:solidFill>
                  </a:tcPr>
                </a:tc>
              </a:tr>
            </a:tbl>
          </a:graphicData>
        </a:graphic>
      </p:graphicFrame>
      <p:sp>
        <p:nvSpPr>
          <p:cNvPr id="7" name="Rounded Rectangle 6"/>
          <p:cNvSpPr/>
          <p:nvPr/>
        </p:nvSpPr>
        <p:spPr>
          <a:xfrm>
            <a:off x="731520" y="4114800"/>
            <a:ext cx="5212080" cy="201168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4251960"/>
            <a:ext cx="4882896" cy="365760"/>
          </a:xfrm>
          <a:prstGeom prst="rect">
            <a:avLst/>
          </a:prstGeom>
          <a:noFill/>
        </p:spPr>
        <p:txBody>
          <a:bodyPr wrap="square">
            <a:spAutoFit/>
          </a:bodyPr>
          <a:lstStyle/>
          <a:p>
            <a:pPr>
              <a:defRPr sz="1250" b="1">
                <a:solidFill>
                  <a:srgbClr val="38BDF8"/>
                </a:solidFill>
                <a:latin typeface="Segoe UI"/>
              </a:defRPr>
            </a:pPr>
            <a:r>
              <a:t>Validated Success: Leaky Collusion Suppression</a:t>
            </a:r>
          </a:p>
        </p:txBody>
      </p:sp>
      <p:sp>
        <p:nvSpPr>
          <p:cNvPr id="9" name="TextBox 8"/>
          <p:cNvSpPr txBox="1"/>
          <p:nvPr/>
        </p:nvSpPr>
        <p:spPr>
          <a:xfrm>
            <a:off x="868680" y="4526280"/>
            <a:ext cx="4937760" cy="1508760"/>
          </a:xfrm>
          <a:prstGeom prst="rect">
            <a:avLst/>
          </a:prstGeom>
          <a:noFill/>
        </p:spPr>
        <p:txBody>
          <a:bodyPr wrap="square">
            <a:spAutoFit/>
          </a:bodyPr>
          <a:lstStyle/>
          <a:p>
            <a:pPr>
              <a:defRPr sz="1000" b="1">
                <a:solidFill>
                  <a:srgbClr val="F8FAFC"/>
                </a:solidFill>
                <a:latin typeface="Segoe UI"/>
              </a:defRPr>
            </a:pPr>
            <a:r>
              <a:t>• Statistically Significant Reduction:</a:t>
            </a:r>
          </a:p>
          <a:p>
            <a:pPr>
              <a:spcAft>
                <a:spcPts val="400"/>
              </a:spcAft>
              <a:defRPr sz="950">
                <a:solidFill>
                  <a:srgbClr val="94A3B8"/>
                </a:solidFill>
                <a:latin typeface="Segoe UI"/>
              </a:defRPr>
            </a:pPr>
            <a:r>
              <a:t>In Scenario 5, colluder trust share drops from 18.34% to 10.68% (&gt;40% suppression, p &lt; 10^(-6)).</a:t>
            </a:r>
          </a:p>
          <a:p>
            <a:pPr>
              <a:defRPr sz="1000" b="1">
                <a:solidFill>
                  <a:srgbClr val="F8FAFC"/>
                </a:solidFill>
                <a:latin typeface="Segoe UI"/>
              </a:defRPr>
            </a:pPr>
            <a:r>
              <a:t>• Substantiated Mechanism:</a:t>
            </a:r>
          </a:p>
          <a:p>
            <a:pPr>
              <a:spcAft>
                <a:spcPts val="400"/>
              </a:spcAft>
              <a:defRPr sz="950">
                <a:solidFill>
                  <a:srgbClr val="94A3B8"/>
                </a:solidFill>
                <a:latin typeface="Segoe UI"/>
              </a:defRPr>
            </a:pPr>
            <a:r>
              <a:t>Honest peers downgrade colluders following protocol non-compliance, restricting the flow of positive evidence into the coalition.</a:t>
            </a:r>
          </a:p>
        </p:txBody>
      </p:sp>
      <p:sp>
        <p:nvSpPr>
          <p:cNvPr id="10" name="Rounded Rectangle 9"/>
          <p:cNvSpPr/>
          <p:nvPr/>
        </p:nvSpPr>
        <p:spPr>
          <a:xfrm>
            <a:off x="6217920" y="4114800"/>
            <a:ext cx="5212080" cy="201168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4251960"/>
            <a:ext cx="4882896" cy="365760"/>
          </a:xfrm>
          <a:prstGeom prst="rect">
            <a:avLst/>
          </a:prstGeom>
          <a:noFill/>
        </p:spPr>
        <p:txBody>
          <a:bodyPr wrap="square">
            <a:spAutoFit/>
          </a:bodyPr>
          <a:lstStyle/>
          <a:p>
            <a:pPr>
              <a:defRPr sz="1250" b="1">
                <a:solidFill>
                  <a:srgbClr val="38BDF8"/>
                </a:solidFill>
                <a:latin typeface="Segoe UI"/>
              </a:defRPr>
            </a:pPr>
            <a:r>
              <a:t>Computational Overhead &amp; Scaling Bottlenecks</a:t>
            </a:r>
          </a:p>
        </p:txBody>
      </p:sp>
      <p:sp>
        <p:nvSpPr>
          <p:cNvPr id="12" name="TextBox 11"/>
          <p:cNvSpPr txBox="1"/>
          <p:nvPr/>
        </p:nvSpPr>
        <p:spPr>
          <a:xfrm>
            <a:off x="6355080" y="4526280"/>
            <a:ext cx="4937760" cy="1508760"/>
          </a:xfrm>
          <a:prstGeom prst="rect">
            <a:avLst/>
          </a:prstGeom>
          <a:noFill/>
        </p:spPr>
        <p:txBody>
          <a:bodyPr wrap="square">
            <a:spAutoFit/>
          </a:bodyPr>
          <a:lstStyle/>
          <a:p>
            <a:pPr>
              <a:defRPr sz="1000" b="1">
                <a:solidFill>
                  <a:srgbClr val="F8FAFC"/>
                </a:solidFill>
                <a:latin typeface="Segoe UI"/>
              </a:defRPr>
            </a:pPr>
            <a:r>
              <a:t>• Baseline Performance:</a:t>
            </a:r>
          </a:p>
          <a:p>
            <a:pPr>
              <a:spcAft>
                <a:spcPts val="400"/>
              </a:spcAft>
              <a:defRPr sz="950">
                <a:solidFill>
                  <a:srgbClr val="94A3B8"/>
                </a:solidFill>
                <a:latin typeface="Segoe UI"/>
              </a:defRPr>
            </a:pPr>
            <a:r>
              <a:t>Standard EigenTrust takes 28.4 ms; EW-EigenTrust takes 34.2 ms (~20% overhead) in normal 30-node operations.</a:t>
            </a:r>
          </a:p>
          <a:p>
            <a:pPr>
              <a:defRPr sz="1000" b="1">
                <a:solidFill>
                  <a:srgbClr val="F8FAFC"/>
                </a:solidFill>
                <a:latin typeface="Segoe UI"/>
              </a:defRPr>
            </a:pPr>
            <a:r>
              <a:t>• Extended Grinding Overhead:</a:t>
            </a:r>
          </a:p>
          <a:p>
            <a:pPr>
              <a:spcAft>
                <a:spcPts val="400"/>
              </a:spcAft>
              <a:defRPr sz="950">
                <a:solidFill>
                  <a:srgbClr val="94A3B8"/>
                </a:solidFill>
                <a:latin typeface="Segoe UI"/>
              </a:defRPr>
            </a:pPr>
            <a:r>
              <a:t>Under 152,000 synthetic receipts, matrix assembly jumps to 2.76 seconds (~92x runtime overhead), demonstrating quadratic scaling under unpruned history.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Critical Analysis: Theory, Negative Findings &amp; Degeneracy</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13 of 15</a:t>
            </a:r>
          </a:p>
        </p:txBody>
      </p:sp>
      <p:sp>
        <p:nvSpPr>
          <p:cNvPr id="6" name="Rounded Rectangle 5"/>
          <p:cNvSpPr/>
          <p:nvPr/>
        </p:nvSpPr>
        <p:spPr>
          <a:xfrm>
            <a:off x="731520" y="146304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3054096" cy="365760"/>
          </a:xfrm>
          <a:prstGeom prst="rect">
            <a:avLst/>
          </a:prstGeom>
          <a:noFill/>
        </p:spPr>
        <p:txBody>
          <a:bodyPr wrap="square">
            <a:spAutoFit/>
          </a:bodyPr>
          <a:lstStyle/>
          <a:p>
            <a:pPr>
              <a:defRPr sz="1250" b="1">
                <a:solidFill>
                  <a:srgbClr val="38BDF8"/>
                </a:solidFill>
                <a:latin typeface="Segoe UI"/>
              </a:defRPr>
            </a:pPr>
            <a:r>
              <a:t>Closed-Set Flow Identity</a:t>
            </a:r>
          </a:p>
        </p:txBody>
      </p:sp>
      <p:sp>
        <p:nvSpPr>
          <p:cNvPr id="8" name="TextBox 7"/>
          <p:cNvSpPr txBox="1"/>
          <p:nvPr/>
        </p:nvSpPr>
        <p:spPr>
          <a:xfrm>
            <a:off x="868680" y="2011680"/>
            <a:ext cx="3108960" cy="3931920"/>
          </a:xfrm>
          <a:prstGeom prst="rect">
            <a:avLst/>
          </a:prstGeom>
          <a:noFill/>
        </p:spPr>
        <p:txBody>
          <a:bodyPr wrap="square">
            <a:spAutoFit/>
          </a:bodyPr>
          <a:lstStyle/>
          <a:p>
            <a:pPr>
              <a:defRPr sz="1050" b="1">
                <a:solidFill>
                  <a:srgbClr val="38BDF8"/>
                </a:solidFill>
                <a:latin typeface="Segoe UI"/>
              </a:defRPr>
            </a:pPr>
            <a:r>
              <a:t>• Invariance Theorem:</a:t>
            </a:r>
          </a:p>
          <a:p>
            <a:pPr>
              <a:spcAft>
                <a:spcPts val="600"/>
              </a:spcAft>
              <a:defRPr sz="950">
                <a:solidFill>
                  <a:srgbClr val="F59E0B"/>
                </a:solidFill>
                <a:latin typeface="Consolas"/>
              </a:defRPr>
            </a:pPr>
            <a:r>
              <a:t>T_C = ((1 - alpha) / alpha) * F_(H -&gt; C)</a:t>
            </a:r>
          </a:p>
          <a:p>
            <a:pPr>
              <a:defRPr sz="1000" b="1">
                <a:solidFill>
                  <a:srgbClr val="F8FAFC"/>
                </a:solidFill>
                <a:latin typeface="Segoe UI"/>
              </a:defRPr>
            </a:pPr>
            <a:r>
              <a:t>• 3 Structural Assumptions:</a:t>
            </a:r>
          </a:p>
          <a:p>
            <a:pPr>
              <a:spcAft>
                <a:spcPts val="400"/>
              </a:spcAft>
              <a:defRPr sz="950">
                <a:solidFill>
                  <a:srgbClr val="94A3B8"/>
                </a:solidFill>
                <a:latin typeface="Segoe UI"/>
              </a:defRPr>
            </a:pPr>
            <a:r>
              <a:t>1. Closure: C'_ch = 0</a:t>
            </a:r>
            <a:br/>
            <a:r>
              <a:t>2. Zero Teleportation: p_c = 0</a:t>
            </a:r>
            <a:br/>
            <a:r>
              <a:t>3. No Dangling Rows: Sum_j S_cj &gt; 0</a:t>
            </a:r>
          </a:p>
          <a:p>
            <a:pPr>
              <a:defRPr sz="1000" b="1">
                <a:solidFill>
                  <a:srgbClr val="F8FAFC"/>
                </a:solidFill>
                <a:latin typeface="Segoe UI"/>
              </a:defRPr>
            </a:pPr>
            <a:r>
              <a:t>• Vital Finding:</a:t>
            </a:r>
          </a:p>
          <a:p>
            <a:pPr>
              <a:spcAft>
                <a:spcPts val="400"/>
              </a:spcAft>
              <a:defRPr sz="950">
                <a:solidFill>
                  <a:srgbClr val="94A3B8"/>
                </a:solidFill>
                <a:latin typeface="Segoe UI"/>
              </a:defRPr>
            </a:pPr>
            <a:r>
              <a:t>Total coalition trust T_C depends strictly on incoming flow F_(H-&gt;C).</a:t>
            </a:r>
          </a:p>
          <a:p>
            <a:pPr>
              <a:defRPr sz="1000" b="1">
                <a:solidFill>
                  <a:srgbClr val="F8FAFC"/>
                </a:solidFill>
                <a:latin typeface="Segoe UI"/>
              </a:defRPr>
            </a:pPr>
            <a:r>
              <a:t>• Invariance Requirement:</a:t>
            </a:r>
          </a:p>
          <a:p>
            <a:pPr>
              <a:spcAft>
                <a:spcPts val="400"/>
              </a:spcAft>
              <a:defRPr sz="950">
                <a:solidFill>
                  <a:srgbClr val="94A3B8"/>
                </a:solidFill>
                <a:latin typeface="Segoe UI"/>
              </a:defRPr>
            </a:pPr>
            <a:r>
              <a:t>Internal reshuffling cannot alter T_C if and only if trust-weighted incoming flow F_(H-&gt;C) remains fixed.</a:t>
            </a:r>
          </a:p>
        </p:txBody>
      </p:sp>
      <p:sp>
        <p:nvSpPr>
          <p:cNvPr id="9" name="Rounded Rectangle 8"/>
          <p:cNvSpPr/>
          <p:nvPr/>
        </p:nvSpPr>
        <p:spPr>
          <a:xfrm>
            <a:off x="4389120" y="146304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600200"/>
            <a:ext cx="3054096" cy="365760"/>
          </a:xfrm>
          <a:prstGeom prst="rect">
            <a:avLst/>
          </a:prstGeom>
          <a:noFill/>
        </p:spPr>
        <p:txBody>
          <a:bodyPr wrap="square">
            <a:spAutoFit/>
          </a:bodyPr>
          <a:lstStyle/>
          <a:p>
            <a:pPr>
              <a:defRPr sz="1250" b="1">
                <a:solidFill>
                  <a:srgbClr val="38BDF8"/>
                </a:solidFill>
                <a:latin typeface="Segoe UI"/>
              </a:defRPr>
            </a:pPr>
            <a:r>
              <a:t>Refutation of Hypothesis H-1</a:t>
            </a:r>
          </a:p>
        </p:txBody>
      </p:sp>
      <p:sp>
        <p:nvSpPr>
          <p:cNvPr id="11" name="TextBox 10"/>
          <p:cNvSpPr txBox="1"/>
          <p:nvPr/>
        </p:nvSpPr>
        <p:spPr>
          <a:xfrm>
            <a:off x="4526280" y="2011680"/>
            <a:ext cx="3108960" cy="3931920"/>
          </a:xfrm>
          <a:prstGeom prst="rect">
            <a:avLst/>
          </a:prstGeom>
          <a:noFill/>
        </p:spPr>
        <p:txBody>
          <a:bodyPr wrap="square">
            <a:spAutoFit/>
          </a:bodyPr>
          <a:lstStyle/>
          <a:p>
            <a:pPr>
              <a:defRPr sz="1050" b="1">
                <a:solidFill>
                  <a:srgbClr val="38BDF8"/>
                </a:solidFill>
                <a:latin typeface="Segoe UI"/>
              </a:defRPr>
            </a:pPr>
            <a:r>
              <a:t>• Preregistered Expectation:</a:t>
            </a:r>
          </a:p>
          <a:p>
            <a:pPr>
              <a:spcAft>
                <a:spcPts val="600"/>
              </a:spcAft>
              <a:defRPr sz="950" i="1">
                <a:solidFill>
                  <a:srgbClr val="F8FAFC"/>
                </a:solidFill>
                <a:latin typeface="Segoe UI"/>
              </a:defRPr>
            </a:pPr>
            <a:r>
              <a:t>H-1: Dispute weighting suppresses colluder trust during receipt grinding.</a:t>
            </a:r>
          </a:p>
          <a:p>
            <a:pPr>
              <a:defRPr sz="1000" b="1">
                <a:solidFill>
                  <a:srgbClr val="F43F5E"/>
                </a:solidFill>
                <a:latin typeface="Segoe UI"/>
              </a:defRPr>
            </a:pPr>
            <a:r>
              <a:t>• Empirical Refutation:</a:t>
            </a:r>
          </a:p>
          <a:p>
            <a:pPr>
              <a:spcAft>
                <a:spcPts val="400"/>
              </a:spcAft>
              <a:defRPr sz="950">
                <a:solidFill>
                  <a:srgbClr val="94A3B8"/>
                </a:solidFill>
                <a:latin typeface="Segoe UI"/>
              </a:defRPr>
            </a:pPr>
            <a:r>
              <a:t>Colluders gained +13.38% (std) and +17.92% (ext) trust share under grinding!</a:t>
            </a:r>
          </a:p>
          <a:p>
            <a:pPr>
              <a:defRPr sz="1000" b="1">
                <a:solidFill>
                  <a:srgbClr val="F8FAFC"/>
                </a:solidFill>
                <a:latin typeface="Segoe UI"/>
              </a:defRPr>
            </a:pPr>
            <a:r>
              <a:t>• Root Mechanism:</a:t>
            </a:r>
          </a:p>
          <a:p>
            <a:pPr>
              <a:spcAft>
                <a:spcPts val="400"/>
              </a:spcAft>
              <a:defRPr sz="950">
                <a:solidFill>
                  <a:srgbClr val="94A3B8"/>
                </a:solidFill>
                <a:latin typeface="Segoe UI"/>
              </a:defRPr>
            </a:pPr>
            <a:r>
              <a:t>Colluders generated synthetic mutual receipts without triggering disputes; dispute penalty w_dispute was never invoked.</a:t>
            </a:r>
          </a:p>
          <a:p>
            <a:pPr>
              <a:defRPr sz="1000" b="1">
                <a:solidFill>
                  <a:srgbClr val="F8FAFC"/>
                </a:solidFill>
                <a:latin typeface="Segoe UI"/>
              </a:defRPr>
            </a:pPr>
            <a:r>
              <a:t>• Academic Candor:</a:t>
            </a:r>
          </a:p>
          <a:p>
            <a:pPr>
              <a:spcAft>
                <a:spcPts val="400"/>
              </a:spcAft>
              <a:defRPr sz="950">
                <a:solidFill>
                  <a:srgbClr val="94A3B8"/>
                </a:solidFill>
                <a:latin typeface="Segoe UI"/>
              </a:defRPr>
            </a:pPr>
            <a:r>
              <a:t>Honest reporting of negative results advances protocol science over unverified marketing.</a:t>
            </a:r>
          </a:p>
        </p:txBody>
      </p:sp>
      <p:sp>
        <p:nvSpPr>
          <p:cNvPr id="12" name="Rounded Rectangle 11"/>
          <p:cNvSpPr/>
          <p:nvPr/>
        </p:nvSpPr>
        <p:spPr>
          <a:xfrm>
            <a:off x="8046720" y="146304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600200"/>
            <a:ext cx="3054096" cy="365760"/>
          </a:xfrm>
          <a:prstGeom prst="rect">
            <a:avLst/>
          </a:prstGeom>
          <a:noFill/>
        </p:spPr>
        <p:txBody>
          <a:bodyPr wrap="square">
            <a:spAutoFit/>
          </a:bodyPr>
          <a:lstStyle/>
          <a:p>
            <a:pPr>
              <a:defRPr sz="1250" b="1">
                <a:solidFill>
                  <a:srgbClr val="38BDF8"/>
                </a:solidFill>
                <a:latin typeface="Segoe UI"/>
              </a:defRPr>
            </a:pPr>
            <a:r>
              <a:t>Scenario 7 Degeneracy</a:t>
            </a:r>
          </a:p>
        </p:txBody>
      </p:sp>
      <p:sp>
        <p:nvSpPr>
          <p:cNvPr id="14" name="TextBox 13"/>
          <p:cNvSpPr txBox="1"/>
          <p:nvPr/>
        </p:nvSpPr>
        <p:spPr>
          <a:xfrm>
            <a:off x="8183879" y="2011680"/>
            <a:ext cx="3108960" cy="3931920"/>
          </a:xfrm>
          <a:prstGeom prst="rect">
            <a:avLst/>
          </a:prstGeom>
          <a:noFill/>
        </p:spPr>
        <p:txBody>
          <a:bodyPr wrap="square">
            <a:spAutoFit/>
          </a:bodyPr>
          <a:lstStyle/>
          <a:p>
            <a:pPr>
              <a:defRPr sz="1050" b="1">
                <a:solidFill>
                  <a:srgbClr val="38BDF8"/>
                </a:solidFill>
                <a:latin typeface="Segoe UI"/>
              </a:defRPr>
            </a:pPr>
            <a:r>
              <a:t>• Zero-Trust Artifact (0.0000):</a:t>
            </a:r>
          </a:p>
          <a:p>
            <a:pPr>
              <a:defRPr sz="1000" b="1">
                <a:solidFill>
                  <a:srgbClr val="F8FAFC"/>
                </a:solidFill>
                <a:latin typeface="Segoe UI"/>
              </a:defRPr>
            </a:pPr>
            <a:r>
              <a:t>• Surface Reading:</a:t>
            </a:r>
          </a:p>
          <a:p>
            <a:pPr>
              <a:spcAft>
                <a:spcPts val="400"/>
              </a:spcAft>
              <a:defRPr sz="950">
                <a:solidFill>
                  <a:srgbClr val="94A3B8"/>
                </a:solidFill>
                <a:latin typeface="Segoe UI"/>
              </a:defRPr>
            </a:pPr>
            <a:r>
              <a:t>Appears as perfect defense against slander disputes.</a:t>
            </a:r>
          </a:p>
          <a:p>
            <a:pPr>
              <a:defRPr sz="1000" b="1">
                <a:solidFill>
                  <a:srgbClr val="F59E0B"/>
                </a:solidFill>
                <a:latin typeface="Segoe UI"/>
              </a:defRPr>
            </a:pPr>
            <a:r>
              <a:t>• Structural Reality:</a:t>
            </a:r>
          </a:p>
          <a:p>
            <a:pPr>
              <a:spcAft>
                <a:spcPts val="400"/>
              </a:spcAft>
              <a:defRPr sz="950">
                <a:solidFill>
                  <a:srgbClr val="94A3B8"/>
                </a:solidFill>
                <a:latin typeface="Segoe UI"/>
              </a:defRPr>
            </a:pPr>
            <a:r>
              <a:t>Result is mathematically degenerate: colluders had zero incoming trust (F_(H-&gt;C) = 0), zero teleportation (p_c = 0), and no dangling rows.</a:t>
            </a:r>
          </a:p>
          <a:p>
            <a:pPr>
              <a:defRPr sz="1000" b="1">
                <a:solidFill>
                  <a:srgbClr val="F8FAFC"/>
                </a:solidFill>
                <a:latin typeface="Segoe UI"/>
              </a:defRPr>
            </a:pPr>
            <a:r>
              <a:t>• Topological Disconnection:</a:t>
            </a:r>
          </a:p>
          <a:p>
            <a:pPr>
              <a:spcAft>
                <a:spcPts val="400"/>
              </a:spcAft>
              <a:defRPr sz="950">
                <a:solidFill>
                  <a:srgbClr val="94A3B8"/>
                </a:solidFill>
                <a:latin typeface="Segoe UI"/>
              </a:defRPr>
            </a:pPr>
            <a:r>
              <a:t>Trust was zero because colluders were completely disconnected from the honest subgraph, NOT because disputes adapted.</a:t>
            </a:r>
          </a:p>
          <a:p>
            <a:pPr>
              <a:defRPr sz="1000" b="1">
                <a:solidFill>
                  <a:srgbClr val="F8FAFC"/>
                </a:solidFill>
                <a:latin typeface="Segoe UI"/>
              </a:defRPr>
            </a:pPr>
            <a:r>
              <a:t>• Scientific Integrity:</a:t>
            </a:r>
          </a:p>
          <a:p>
            <a:pPr>
              <a:spcAft>
                <a:spcPts val="400"/>
              </a:spcAft>
              <a:defRPr sz="950">
                <a:solidFill>
                  <a:srgbClr val="94A3B8"/>
                </a:solidFill>
                <a:latin typeface="Segoe UI"/>
              </a:defRPr>
            </a:pPr>
            <a:r>
              <a:t>Must be labeled as topological artifact, not general slander resistance.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Limitations, Social-Networking Scope &amp; Conclusion</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14 of 15</a:t>
            </a:r>
          </a:p>
        </p:txBody>
      </p:sp>
      <p:sp>
        <p:nvSpPr>
          <p:cNvPr id="6" name="Rounded Rectangle 5"/>
          <p:cNvSpPr/>
          <p:nvPr/>
        </p:nvSpPr>
        <p:spPr>
          <a:xfrm>
            <a:off x="731520" y="146304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3054096" cy="365760"/>
          </a:xfrm>
          <a:prstGeom prst="rect">
            <a:avLst/>
          </a:prstGeom>
          <a:noFill/>
        </p:spPr>
        <p:txBody>
          <a:bodyPr wrap="square">
            <a:spAutoFit/>
          </a:bodyPr>
          <a:lstStyle/>
          <a:p>
            <a:pPr>
              <a:defRPr sz="1250" b="1">
                <a:solidFill>
                  <a:srgbClr val="38BDF8"/>
                </a:solidFill>
                <a:latin typeface="Segoe UI"/>
              </a:defRPr>
            </a:pPr>
            <a:r>
              <a:t>Acknowledged Limitations</a:t>
            </a:r>
          </a:p>
        </p:txBody>
      </p:sp>
      <p:sp>
        <p:nvSpPr>
          <p:cNvPr id="8" name="TextBox 7"/>
          <p:cNvSpPr txBox="1"/>
          <p:nvPr/>
        </p:nvSpPr>
        <p:spPr>
          <a:xfrm>
            <a:off x="868680" y="2011680"/>
            <a:ext cx="3108960" cy="3931920"/>
          </a:xfrm>
          <a:prstGeom prst="rect">
            <a:avLst/>
          </a:prstGeom>
          <a:noFill/>
        </p:spPr>
        <p:txBody>
          <a:bodyPr wrap="square">
            <a:spAutoFit/>
          </a:bodyPr>
          <a:lstStyle/>
          <a:p>
            <a:pPr>
              <a:defRPr sz="1050" b="1">
                <a:solidFill>
                  <a:srgbClr val="F59E0B"/>
                </a:solidFill>
                <a:latin typeface="Segoe UI"/>
              </a:defRPr>
            </a:pPr>
            <a:r>
              <a:t>• Tier 3 Evidence Portability:</a:t>
            </a:r>
          </a:p>
          <a:p>
            <a:pPr>
              <a:spcAft>
                <a:spcPts val="600"/>
              </a:spcAft>
              <a:defRPr sz="950">
                <a:solidFill>
                  <a:srgbClr val="94A3B8"/>
                </a:solidFill>
                <a:latin typeface="Segoe UI"/>
              </a:defRPr>
            </a:pPr>
            <a:r>
              <a:t>Bilateral receipts rely on global key oracle D_sim; not fully portable across decentralized third parties without threshold proofs.</a:t>
            </a:r>
          </a:p>
          <a:p>
            <a:pPr>
              <a:defRPr sz="1050" b="1">
                <a:solidFill>
                  <a:srgbClr val="F59E0B"/>
                </a:solidFill>
                <a:latin typeface="Segoe UI"/>
              </a:defRPr>
            </a:pPr>
            <a:r>
              <a:t>• Proof-of-Work Constraints:</a:t>
            </a:r>
          </a:p>
          <a:p>
            <a:pPr>
              <a:spcAft>
                <a:spcPts val="600"/>
              </a:spcAft>
              <a:defRPr sz="950">
                <a:solidFill>
                  <a:srgbClr val="94A3B8"/>
                </a:solidFill>
                <a:latin typeface="Segoe UI"/>
              </a:defRPr>
            </a:pPr>
            <a:r>
              <a:t>Static D=16 provides economic friction, not absolute defense against dedicated ASIC miners.</a:t>
            </a:r>
          </a:p>
          <a:p>
            <a:pPr>
              <a:defRPr sz="1050" b="1">
                <a:solidFill>
                  <a:srgbClr val="F59E0B"/>
                </a:solidFill>
                <a:latin typeface="Segoe UI"/>
              </a:defRPr>
            </a:pPr>
            <a:r>
              <a:t>• Closed-World Simulation:</a:t>
            </a:r>
          </a:p>
          <a:p>
            <a:pPr>
              <a:spcAft>
                <a:spcPts val="600"/>
              </a:spcAft>
              <a:defRPr sz="950">
                <a:solidFill>
                  <a:srgbClr val="94A3B8"/>
                </a:solidFill>
                <a:latin typeface="Segoe UI"/>
              </a:defRPr>
            </a:pPr>
            <a:r>
              <a:t>Evaluated in synthetic 30-50 node simulations; WAN latency and Byzantine churn not fully stress-tested.</a:t>
            </a:r>
          </a:p>
        </p:txBody>
      </p:sp>
      <p:sp>
        <p:nvSpPr>
          <p:cNvPr id="9" name="Rounded Rectangle 8"/>
          <p:cNvSpPr/>
          <p:nvPr/>
        </p:nvSpPr>
        <p:spPr>
          <a:xfrm>
            <a:off x="4389120" y="146304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600200"/>
            <a:ext cx="3054096" cy="365760"/>
          </a:xfrm>
          <a:prstGeom prst="rect">
            <a:avLst/>
          </a:prstGeom>
          <a:noFill/>
        </p:spPr>
        <p:txBody>
          <a:bodyPr wrap="square">
            <a:spAutoFit/>
          </a:bodyPr>
          <a:lstStyle/>
          <a:p>
            <a:pPr>
              <a:defRPr sz="1250" b="1">
                <a:solidFill>
                  <a:srgbClr val="38BDF8"/>
                </a:solidFill>
                <a:latin typeface="Segoe UI"/>
              </a:defRPr>
            </a:pPr>
            <a:r>
              <a:t>Conceptual Social-Networking Scope</a:t>
            </a:r>
          </a:p>
        </p:txBody>
      </p:sp>
      <p:sp>
        <p:nvSpPr>
          <p:cNvPr id="11" name="TextBox 10"/>
          <p:cNvSpPr txBox="1"/>
          <p:nvPr/>
        </p:nvSpPr>
        <p:spPr>
          <a:xfrm>
            <a:off x="4526280" y="2011680"/>
            <a:ext cx="3108960" cy="3931920"/>
          </a:xfrm>
          <a:prstGeom prst="rect">
            <a:avLst/>
          </a:prstGeom>
          <a:noFill/>
        </p:spPr>
        <p:txBody>
          <a:bodyPr wrap="square">
            <a:spAutoFit/>
          </a:bodyPr>
          <a:lstStyle/>
          <a:p>
            <a:pPr>
              <a:defRPr sz="1050" b="1">
                <a:solidFill>
                  <a:srgbClr val="38BDF8"/>
                </a:solidFill>
                <a:latin typeface="Segoe UI"/>
              </a:defRPr>
            </a:pPr>
            <a:r>
              <a:t>• Platform-Neutral Mapping:</a:t>
            </a:r>
          </a:p>
          <a:p>
            <a:pPr>
              <a:spcAft>
                <a:spcPts val="600"/>
              </a:spcAft>
              <a:defRPr sz="950">
                <a:solidFill>
                  <a:srgbClr val="94A3B8"/>
                </a:solidFill>
                <a:latin typeface="Segoe UI"/>
              </a:defRPr>
            </a:pPr>
            <a:r>
              <a:t>Mutual follows map to WoT edges; content attestations map to receipts; social recovery maps to Shamir guardian sets.</a:t>
            </a:r>
          </a:p>
          <a:p>
            <a:pPr>
              <a:defRPr sz="1050" b="1">
                <a:solidFill>
                  <a:srgbClr val="38BDF8"/>
                </a:solidFill>
                <a:latin typeface="Segoe UI"/>
              </a:defRPr>
            </a:pPr>
            <a:r>
              <a:t>• Subjective vs. Objective:</a:t>
            </a:r>
          </a:p>
          <a:p>
            <a:pPr>
              <a:spcAft>
                <a:spcPts val="600"/>
              </a:spcAft>
              <a:defRPr sz="950">
                <a:solidFill>
                  <a:srgbClr val="94A3B8"/>
                </a:solidFill>
                <a:latin typeface="Segoe UI"/>
              </a:defRPr>
            </a:pPr>
            <a:r>
              <a:t>Social follows reflect subjective preference, unlike objective Merkle chunk corruption proofs.</a:t>
            </a:r>
          </a:p>
          <a:p>
            <a:pPr>
              <a:defRPr sz="1050" b="1">
                <a:solidFill>
                  <a:srgbClr val="38BDF8"/>
                </a:solidFill>
                <a:latin typeface="Segoe UI"/>
              </a:defRPr>
            </a:pPr>
            <a:r>
              <a:t>• Strict Scope Boundary:</a:t>
            </a:r>
          </a:p>
          <a:p>
            <a:pPr>
              <a:spcAft>
                <a:spcPts val="600"/>
              </a:spcAft>
              <a:defRPr sz="950">
                <a:solidFill>
                  <a:srgbClr val="94A3B8"/>
                </a:solidFill>
                <a:latin typeface="Segoe UI"/>
              </a:defRPr>
            </a:pPr>
            <a:r>
              <a:t>Formulated as an architectural conceptual extension. No live trials were conducted on Nostr or Matrix.</a:t>
            </a:r>
          </a:p>
        </p:txBody>
      </p:sp>
      <p:sp>
        <p:nvSpPr>
          <p:cNvPr id="12" name="Rounded Rectangle 11"/>
          <p:cNvSpPr/>
          <p:nvPr/>
        </p:nvSpPr>
        <p:spPr>
          <a:xfrm>
            <a:off x="8046720" y="1463040"/>
            <a:ext cx="33832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600200"/>
            <a:ext cx="3054096" cy="365760"/>
          </a:xfrm>
          <a:prstGeom prst="rect">
            <a:avLst/>
          </a:prstGeom>
          <a:noFill/>
        </p:spPr>
        <p:txBody>
          <a:bodyPr wrap="square">
            <a:spAutoFit/>
          </a:bodyPr>
          <a:lstStyle/>
          <a:p>
            <a:pPr>
              <a:defRPr sz="1250" b="1">
                <a:solidFill>
                  <a:srgbClr val="38BDF8"/>
                </a:solidFill>
                <a:latin typeface="Segoe UI"/>
              </a:defRPr>
            </a:pPr>
            <a:r>
              <a:t>Conclusion &amp; Future Work</a:t>
            </a:r>
          </a:p>
        </p:txBody>
      </p:sp>
      <p:sp>
        <p:nvSpPr>
          <p:cNvPr id="14" name="TextBox 13"/>
          <p:cNvSpPr txBox="1"/>
          <p:nvPr/>
        </p:nvSpPr>
        <p:spPr>
          <a:xfrm>
            <a:off x="8183879" y="2011680"/>
            <a:ext cx="3108960" cy="3931920"/>
          </a:xfrm>
          <a:prstGeom prst="rect">
            <a:avLst/>
          </a:prstGeom>
          <a:noFill/>
        </p:spPr>
        <p:txBody>
          <a:bodyPr wrap="square">
            <a:spAutoFit/>
          </a:bodyPr>
          <a:lstStyle/>
          <a:p>
            <a:pPr>
              <a:defRPr sz="1050" b="1">
                <a:solidFill>
                  <a:srgbClr val="10B981"/>
                </a:solidFill>
                <a:latin typeface="Segoe UI"/>
              </a:defRPr>
            </a:pPr>
            <a:r>
              <a:t>• Core Research Takeaway:</a:t>
            </a:r>
          </a:p>
          <a:p>
            <a:pPr>
              <a:spcAft>
                <a:spcPts val="600"/>
              </a:spcAft>
              <a:defRPr sz="950">
                <a:solidFill>
                  <a:srgbClr val="94A3B8"/>
                </a:solidFill>
                <a:latin typeface="Segoe UI"/>
              </a:defRPr>
            </a:pPr>
            <a:r>
              <a:t>Synthesizes 4-layer PKI stack; validates &gt;40% leaky collusion containment while mathematically bounding spectral reputation limits.</a:t>
            </a:r>
          </a:p>
          <a:p>
            <a:pPr>
              <a:defRPr sz="1050" b="1">
                <a:solidFill>
                  <a:srgbClr val="10B981"/>
                </a:solidFill>
                <a:latin typeface="Segoe UI"/>
              </a:defRPr>
            </a:pPr>
            <a:r>
              <a:t>• Future Work — ZK Receipts:</a:t>
            </a:r>
          </a:p>
          <a:p>
            <a:pPr>
              <a:spcAft>
                <a:spcPts val="600"/>
              </a:spcAft>
              <a:defRPr sz="950">
                <a:solidFill>
                  <a:srgbClr val="94A3B8"/>
                </a:solidFill>
                <a:latin typeface="Segoe UI"/>
              </a:defRPr>
            </a:pPr>
            <a:r>
              <a:t>Zero-knowledge proof compression to resolve the 92x runtime scaling bottleneck under large transaction histories.</a:t>
            </a:r>
          </a:p>
          <a:p>
            <a:pPr>
              <a:defRPr sz="1050" b="1">
                <a:solidFill>
                  <a:srgbClr val="10B981"/>
                </a:solidFill>
                <a:latin typeface="Segoe UI"/>
              </a:defRPr>
            </a:pPr>
            <a:r>
              <a:t>• Future Work — Threshold Consensus:</a:t>
            </a:r>
          </a:p>
          <a:p>
            <a:pPr>
              <a:spcAft>
                <a:spcPts val="600"/>
              </a:spcAft>
              <a:defRPr sz="950">
                <a:solidFill>
                  <a:srgbClr val="94A3B8"/>
                </a:solidFill>
                <a:latin typeface="Segoe UI"/>
              </a:defRPr>
            </a:pPr>
            <a:r>
              <a:t>Multi-party threshold consensus for decentralized key recovery and portable cross-cluster receipts.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spAutoFit/>
          </a:bodyPr>
          <a:lstStyle/>
          <a:p>
            <a:pPr>
              <a:defRPr sz="950" b="1">
                <a:solidFill>
                  <a:srgbClr val="38BDF8"/>
                </a:solidFill>
                <a:latin typeface="Segoe UI"/>
              </a:defRPr>
            </a:pPr>
            <a:r>
              <a:t>PKI-BASED TRUST MANAGEMENT FOR P2P &amp; SOCIAL NETWORKS</a:t>
            </a:r>
          </a:p>
        </p:txBody>
      </p:sp>
      <p:sp>
        <p:nvSpPr>
          <p:cNvPr id="3" name="TextBox 2"/>
          <p:cNvSpPr txBox="1"/>
          <p:nvPr/>
        </p:nvSpPr>
        <p:spPr>
          <a:xfrm>
            <a:off x="731520" y="640080"/>
            <a:ext cx="10728655" cy="548640"/>
          </a:xfrm>
          <a:prstGeom prst="rect">
            <a:avLst/>
          </a:prstGeom>
          <a:noFill/>
        </p:spPr>
        <p:txBody>
          <a:bodyPr wrap="square">
            <a:spAutoFit/>
          </a:bodyPr>
          <a:lstStyle/>
          <a:p>
            <a:pPr>
              <a:defRPr sz="2200" b="1">
                <a:solidFill>
                  <a:srgbClr val="F8FAFC"/>
                </a:solidFill>
                <a:latin typeface="Segoe UI"/>
              </a:defRPr>
            </a:pPr>
            <a:r>
              <a:t>Authoritative Academic References</a:t>
            </a:r>
          </a:p>
        </p:txBody>
      </p:sp>
      <p:sp>
        <p:nvSpPr>
          <p:cNvPr id="4" name="Rectangle 3"/>
          <p:cNvSpPr/>
          <p:nvPr/>
        </p:nvSpPr>
        <p:spPr>
          <a:xfrm>
            <a:off x="731520" y="123444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defRPr sz="850">
                <a:solidFill>
                  <a:srgbClr val="64748B"/>
                </a:solidFill>
                <a:latin typeface="Segoe UI"/>
              </a:defRPr>
            </a:pPr>
            <a:r>
              <a:t>Candidate: Shreyan Nayak (23BKT0039)  |  VIT Chennai  |  Course Code: VL2026270102689 (CS1)  |  Baseline: v9.0-FINAL-FREEZE       Slide 15 of 15</a:t>
            </a:r>
          </a:p>
        </p:txBody>
      </p:sp>
      <p:sp>
        <p:nvSpPr>
          <p:cNvPr id="6" name="Rounded Rectangle 5"/>
          <p:cNvSpPr/>
          <p:nvPr/>
        </p:nvSpPr>
        <p:spPr>
          <a:xfrm>
            <a:off x="731520" y="1463040"/>
            <a:ext cx="1072865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10399471" cy="365760"/>
          </a:xfrm>
          <a:prstGeom prst="rect">
            <a:avLst/>
          </a:prstGeom>
          <a:noFill/>
        </p:spPr>
        <p:txBody>
          <a:bodyPr wrap="square">
            <a:spAutoFit/>
          </a:bodyPr>
          <a:lstStyle/>
          <a:p>
            <a:pPr>
              <a:defRPr sz="1250" b="1">
                <a:solidFill>
                  <a:srgbClr val="38BDF8"/>
                </a:solidFill>
                <a:latin typeface="Segoe UI"/>
              </a:defRPr>
            </a:pPr>
            <a:r>
              <a:t>IEEE Formatted Bibliography</a:t>
            </a:r>
          </a:p>
        </p:txBody>
      </p:sp>
      <p:sp>
        <p:nvSpPr>
          <p:cNvPr id="8" name="TextBox 7"/>
          <p:cNvSpPr txBox="1"/>
          <p:nvPr/>
        </p:nvSpPr>
        <p:spPr>
          <a:xfrm>
            <a:off x="868680" y="1920240"/>
            <a:ext cx="10424160" cy="4023360"/>
          </a:xfrm>
          <a:prstGeom prst="rect">
            <a:avLst/>
          </a:prstGeom>
          <a:noFill/>
        </p:spPr>
        <p:txBody>
          <a:bodyPr wrap="square">
            <a:spAutoFit/>
          </a:bodyPr>
          <a:lstStyle/>
          <a:p>
            <a:pPr>
              <a:spcAft>
                <a:spcPts val="700"/>
              </a:spcAft>
              <a:defRPr sz="950">
                <a:solidFill>
                  <a:srgbClr val="94A3B8"/>
                </a:solidFill>
                <a:latin typeface="Segoe UI"/>
              </a:defRPr>
            </a:pPr>
            <a:r>
              <a:t>[1]  Decentralized Identity Foundation (DIF), "Decentralized Identifiers (DIDs) v1.0: Core Architecture, Data Model, and Representations," W3C Recommendation, 2022. [Online]. Available: https://www.w3.org/TR/did-core/</a:t>
            </a:r>
          </a:p>
          <a:p>
            <a:pPr>
              <a:spcAft>
                <a:spcPts val="700"/>
              </a:spcAft>
              <a:defRPr sz="950">
                <a:solidFill>
                  <a:srgbClr val="94A3B8"/>
                </a:solidFill>
                <a:latin typeface="Segoe UI"/>
              </a:defRPr>
            </a:pPr>
            <a:r>
              <a:t>[2]  C. Ellison, B. Frantz, B. Lampson, R. Rivest, B. Thomas, and T. Ylonen, "SPKI Certificate Theory," IETF RFC 2693, Sep. 1999.</a:t>
            </a:r>
          </a:p>
          <a:p>
            <a:pPr>
              <a:spcAft>
                <a:spcPts val="700"/>
              </a:spcAft>
              <a:defRPr sz="950">
                <a:solidFill>
                  <a:srgbClr val="94A3B8"/>
                </a:solidFill>
                <a:latin typeface="Segoe UI"/>
              </a:defRPr>
            </a:pPr>
            <a:r>
              <a:t>[3]  S. D. Kamvar, M. T. Schlosser, and H. Garcia-Molina, "The EigenTrust algorithm for reputation management in P2P networks," in Proc. 12th Int. Conf. World Wide Web (WWW '03), Budapest, Hungary, 2003, pp. 640-651.</a:t>
            </a:r>
          </a:p>
          <a:p>
            <a:pPr>
              <a:spcAft>
                <a:spcPts val="700"/>
              </a:spcAft>
              <a:defRPr sz="950">
                <a:solidFill>
                  <a:srgbClr val="94A3B8"/>
                </a:solidFill>
                <a:latin typeface="Segoe UI"/>
              </a:defRPr>
            </a:pPr>
            <a:r>
              <a:t>[4]  S. Nakamoto, "Bitcoin: A Peer-to-Peer Electronic Cash System," White Paper, 2008. [Online]. Available: https://bitcoin.org/bitcoin.pdf</a:t>
            </a:r>
          </a:p>
          <a:p>
            <a:pPr>
              <a:spcAft>
                <a:spcPts val="700"/>
              </a:spcAft>
              <a:defRPr sz="950">
                <a:solidFill>
                  <a:srgbClr val="94A3B8"/>
                </a:solidFill>
                <a:latin typeface="Segoe UI"/>
              </a:defRPr>
            </a:pPr>
            <a:r>
              <a:t>[5]  A. Shamir, "How to share a secret," Communications of the ACM, vol. 22, no. 11, pp. 612-613, Nov. 1979.</a:t>
            </a:r>
          </a:p>
          <a:p>
            <a:pPr>
              <a:spcAft>
                <a:spcPts val="700"/>
              </a:spcAft>
              <a:defRPr sz="950">
                <a:solidFill>
                  <a:srgbClr val="94A3B8"/>
                </a:solidFill>
                <a:latin typeface="Segoe UI"/>
              </a:defRPr>
            </a:pPr>
            <a:r>
              <a:t>[6]  P. R. Zimmermann, The Official PGP User's Guide, Cambridge, MA, USA: MIT Press, 1995.</a:t>
            </a:r>
          </a:p>
          <a:p>
            <a:pPr>
              <a:spcAft>
                <a:spcPts val="700"/>
              </a:spcAft>
              <a:defRPr sz="950">
                <a:solidFill>
                  <a:srgbClr val="94A3B8"/>
                </a:solidFill>
                <a:latin typeface="Segoe UI"/>
              </a:defRPr>
            </a:pPr>
            <a:r>
              <a:t>[7]  D. Cooper, S. Santesson, S. Farrell, S. Boeyen, R. Housley, and W. Polk, "Internet X.509 Public Key Infrastructure Certificate and Certificate Revocation List (CRL) Profile," IETF RFC 5280, May 2008.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